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Triody AI from Edinburgh Napier University. Our entry is for Topic E, the SME Finance Copilot. In the next ten minutes we show you one small café, the cash problem it does not see coming, and how Triody finds it, explains it and prepares a fix, while the owner keeps full control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Harbour Street Café. It is fictional, and every number in it is synthetic, but the pattern is common. The balance today is nine thousand two hundred pounds, which looks safe. A six thousand eight hundred pound VAT bill arrives on the seventh of November, as summer trade fades. Insurance renews in December. A bank app shows the balance today. It does not show next month. Triody closes this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Triody does four jobs. It warns early with a sixty-day forecast. It explains the cause in plain words. It answers everyday questions about sales, costs and profit, even with typos. And it finds financing, from public UK sources and a smaller China catalogue, which includes WeBank’s Weiyedai loan, tests the best option against the forecast and drafts the application. Together these cover the three needs in the Topic 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morning Triody runs a check on its own. For the café it finds a sixty-six percent chance of going below zero within sixty days. The lowest expected balance is minus one thousand one hundred and ninety-four pounds, on the seventh of December. The owner gets twenty-four days of warning before the risk of breaking the safety buffer reaches one in four. Triody also names the cause: the VAT bill, the insurance, and supplier and wage costs as a share of sales. Every figure here comes from the demo transcript in our evidence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cash runs short, Triody sizes the gap and ranks the products. For the café the best fit is HMRC Time to Pay, which spreads five thousand pounds of the VAT bill over ten months. Triody says plainly this is not a loan. Each payment stays within half of the café’s free cash flow. Then Triody tests the plan. Over sixty days the chance of going below zero falls from sixty-six to thirteen percent. Over the whole plan it only falls from seventy-three to fifty-nine percent. So Triody tells the owner the honest version: it buys time, and the cost problem still needs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A message comes in from the dashboard, the phone app or the terminal. The brain plans which tools to call. The brain is either our rule planner, which works offline, or an optional language model. Every call then passes the policy gate before it reaches one of twenty-two tools, and the tools read from the forecast, financing and analysis engines. Two things sit beside the path. Every step goes into a hash-chained audit log. Approval codes go to a separate owner device and never appear in the chat. The whole thing needs only the Python standard library, and it also runs offline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has three parts. First, sales: the weekday pattern of the last four weeks with a damped trend, and big one-off orders capped so they do not distort the level. Second, bills: Triody finds repeating payments in the ledger and adds the bills the owner lists. Third, two thousand simulated futures over sixty days. The result is a range for each day, not a single guess. The width of the range is set from the shop’s own past forecast errors, so a lumpy business gets wider ranges. The alert rule sits on top of those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thirty percent of the score, so here is how we handle it. Every tool sits in one of four tiers, and code enforces the tier, not the language model. Read tools always run. Draft tools run but nothing leaves the sandbox. Execute tools need the owner and a one-time code. And moving money is prohibited for everyone, even with a code. A language model is never offered the execute or prohibited tools, and two tests check the actual payload. Memo text is hidden from the model so a supplier cannot inject instructions through a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approval flow. When Triody drafts an application, it creates a random code bound to the exact action. The code goes only to the owner device. It never appears in the chat, never reaches the language model and never goes into the log. The owner types the code, Triody checks the amount and daily limits, and the action runs once. The code dies after ten minutes. Five wrong guesses lock every waiting draft. And every step lands in a hash-chained audit log, so an edit to the log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evidence. For financing we wrote the expected answer for each case before running the matcher, then compared it with a simple baseline, which picks the cheapest eligible product. Triody wins on all three sets, and on the newest fifteen cases it scores ninety-three point three percent. For the forecast, the balance error at day fourteen is lower than a naive forecast on all four shops, in pounds and in yuan. All one hundred and ninety-two tests pass, and one command rebuilds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straight about the limits. All our data is synthetic. On the tea shop, our weekly sales forecast loses to a simple baseline, by about half a percentage point. Our language-model path has only been tested with scripted models. In the prototype, the owner device sits on the same screen, where a bank would use SMS or its app. And catalogue rates go stale. Our security assessment lists all twenty-six risks we know about, with what a real deployment needs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Triody warns early, explains why, prepares the fix, and never moves the money. It runs on Python with no extra packages, or offline in a browser, and every number in this talk comes from code you run yourself.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965721"/>
          </a:xfrm>
          <a:prstGeom prst="rect">
            <a:avLst/>
          </a:prstGeom>
          <a:noFill/>
          <a:ln/>
        </p:spPr>
        <p:txBody>
          <a:bodyPr wrap="square" lIns="0" tIns="0" rIns="0" bIns="0" rtlCol="0" anchor="t"/>
          <a:lstStyle>
            <a:lvl1pPr algn="l" indent="0" marL="0">
              <a:lnSpc>
                <a:spcPct val="115000"/>
              </a:lnSpc>
              <a:buNone/>
              <a:defRPr lang="en-US" sz="3600" dirty="0">
                <a:solidFill>
                  <a:srgbClr val="1421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98241"/>
            <a:ext cx="10566400" cy="3646959"/>
          </a:xfrm>
          <a:prstGeom prst="rect">
            <a:avLst/>
          </a:prstGeom>
          <a:noFill/>
          <a:ln/>
        </p:spPr>
        <p:txBody>
          <a:bodyPr wrap="square" lIns="0" tIns="0" rIns="0" bIns="0" rtlCol="0" anchor="t"/>
          <a:lstStyle>
            <a:lvl1pPr algn="l" indent="0" marL="0">
              <a:lnSpc>
                <a:spcPct val="140000"/>
              </a:lnSpc>
              <a:buNone/>
              <a:defRPr lang="en-US" sz="1600" dirty="0">
                <a:solidFill>
                  <a:srgbClr val="1421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965721"/>
          </a:xfrm>
          <a:prstGeom prst="rect">
            <a:avLst/>
          </a:prstGeom>
          <a:noFill/>
          <a:ln/>
        </p:spPr>
        <p:txBody>
          <a:bodyPr wrap="square" lIns="0" tIns="0" rIns="0" bIns="0" rtlCol="0" anchor="t"/>
          <a:lstStyle>
            <a:lvl1pPr algn="l" indent="0" marL="0">
              <a:lnSpc>
                <a:spcPct val="115000"/>
              </a:lnSpc>
              <a:buNone/>
              <a:defRPr lang="en-US" sz="3600" dirty="0">
                <a:solidFill>
                  <a:srgbClr val="1421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98241"/>
            <a:ext cx="10566400" cy="3646959"/>
          </a:xfrm>
          <a:prstGeom prst="rect">
            <a:avLst/>
          </a:prstGeom>
          <a:noFill/>
          <a:ln/>
        </p:spPr>
        <p:txBody>
          <a:bodyPr wrap="square" lIns="0" tIns="0" rIns="0" bIns="0" rtlCol="0" anchor="t"/>
          <a:lstStyle>
            <a:lvl1pPr algn="l" indent="0" marL="0">
              <a:lnSpc>
                <a:spcPct val="140000"/>
              </a:lnSpc>
              <a:buNone/>
              <a:defRPr lang="en-US" sz="1600" dirty="0">
                <a:solidFill>
                  <a:srgbClr val="1421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6FD3B0"/>
                </a:solidFill>
                <a:latin typeface="IBM Plex Sans" pitchFamily="34" charset="0"/>
                <a:ea typeface="IBM Plex Sans" pitchFamily="34" charset="-122"/>
                <a:cs typeface="IBM Plex Sans" pitchFamily="34" charset="-120"/>
              </a:rPr>
              <a:t>TOPIC E: SME FINANCE COPILOT</a:t>
            </a:r>
            <a:endParaRPr lang="en-US" sz="1600" dirty="0"/>
          </a:p>
        </p:txBody>
      </p:sp>
      <p:sp>
        <p:nvSpPr>
          <p:cNvPr id="3" name="Text 1"/>
          <p:cNvSpPr/>
          <p:nvPr>
            <p:ph type="title"/>
          </p:nvPr>
        </p:nvSpPr>
        <p:spPr>
          <a:xfrm>
            <a:off x="812800" y="218698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5F3EC"/>
                </a:solidFill>
                <a:latin typeface="Space Grotesk" pitchFamily="34" charset="0"/>
                <a:ea typeface="Space Grotesk" pitchFamily="34" charset="-122"/>
                <a:cs typeface="Space Grotesk" pitchFamily="34" charset="-120"/>
              </a:rPr>
              <a:t>Triody AI</a:t>
            </a:r>
            <a:endParaRPr lang="en-US" sz="8000" dirty="0"/>
          </a:p>
        </p:txBody>
      </p:sp>
      <p:sp>
        <p:nvSpPr>
          <p:cNvPr id="4" name="Text 2"/>
          <p:cNvSpPr/>
          <p:nvPr/>
        </p:nvSpPr>
        <p:spPr>
          <a:xfrm>
            <a:off x="812800" y="345698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6DED9"/>
                </a:solidFill>
                <a:latin typeface="IBM Plex Sans" pitchFamily="34" charset="0"/>
                <a:ea typeface="IBM Plex Sans" pitchFamily="34" charset="-122"/>
                <a:cs typeface="IBM Plex Sans" pitchFamily="34" charset="-120"/>
              </a:rPr>
              <a:t>A finance copilot. It warns a small business owner before cash runs out, finds a way through and never moves their money.</a:t>
            </a:r>
            <a:endParaRPr lang="en-US" sz="2200" dirty="0"/>
          </a:p>
        </p:txBody>
      </p:sp>
      <p:sp>
        <p:nvSpPr>
          <p:cNvPr id="5" name="Text 3"/>
          <p:cNvSpPr/>
          <p:nvPr/>
        </p:nvSpPr>
        <p:spPr>
          <a:xfrm>
            <a:off x="812800" y="5273080"/>
            <a:ext cx="51583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7C0"/>
                </a:solidFill>
                <a:latin typeface="IBM Plex Sans" pitchFamily="34" charset="0"/>
                <a:ea typeface="IBM Plex Sans" pitchFamily="34" charset="-122"/>
                <a:cs typeface="IBM Plex Sans" pitchFamily="34" charset="-120"/>
              </a:rPr>
              <a:t>AL SIFAT SIDDIKI, Md Rezuan Islami Rokib, Atif Azeem</a:t>
            </a:r>
            <a:endParaRPr lang="en-US" sz="1600" dirty="0"/>
          </a:p>
          <a:p>
            <a:pPr algn="l" indent="0" marL="0">
              <a:lnSpc>
                <a:spcPts val="2240"/>
              </a:lnSpc>
              <a:buNone/>
            </a:pPr>
            <a:r>
              <a:rPr lang="en-US" sz="1600" dirty="0">
                <a:solidFill>
                  <a:srgbClr val="B8C7C0"/>
                </a:solidFill>
                <a:latin typeface="IBM Plex Sans" pitchFamily="34" charset="0"/>
                <a:ea typeface="IBM Plex Sans" pitchFamily="34" charset="-122"/>
                <a:cs typeface="IBM Plex Sans" pitchFamily="34" charset="-120"/>
              </a:rPr>
              <a:t>Edinburgh Napier University</a:t>
            </a:r>
            <a:endParaRPr lang="en-US" sz="1600" dirty="0"/>
          </a:p>
        </p:txBody>
      </p:sp>
      <p:sp>
        <p:nvSpPr>
          <p:cNvPr id="6" name="Text 4"/>
          <p:cNvSpPr/>
          <p:nvPr/>
        </p:nvSpPr>
        <p:spPr>
          <a:xfrm>
            <a:off x="9288795" y="5415359"/>
            <a:ext cx="2090405"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C0"/>
                </a:solidFill>
                <a:latin typeface="IBM Plex Sans" pitchFamily="34" charset="0"/>
                <a:ea typeface="IBM Plex Sans" pitchFamily="34" charset="-122"/>
                <a:cs typeface="IBM Plex Sans" pitchFamily="34" charset="-120"/>
              </a:rPr>
              <a:t>2026 Shenzhen FinTechathon</a:t>
            </a:r>
            <a:endParaRPr lang="en-US" sz="1200" dirty="0"/>
          </a:p>
          <a:p>
            <a:pPr algn="r" indent="0" marL="0">
              <a:lnSpc>
                <a:spcPts val="1680"/>
              </a:lnSpc>
              <a:buNone/>
            </a:pPr>
            <a:r>
              <a:rPr lang="en-US" sz="1200" dirty="0">
                <a:solidFill>
                  <a:srgbClr val="B8C7C0"/>
                </a:solidFill>
                <a:latin typeface="IBM Plex Sans" pitchFamily="34" charset="0"/>
                <a:ea typeface="IBM Plex Sans" pitchFamily="34" charset="-122"/>
                <a:cs typeface="IBM Plex Sans" pitchFamily="34" charset="-120"/>
              </a:rPr>
              <a:t>International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A café owner sees the cash gap the day the bill lands</a:t>
            </a:r>
            <a:endParaRPr lang="en-US" sz="3600" dirty="0"/>
          </a:p>
        </p:txBody>
      </p:sp>
      <p:sp>
        <p:nvSpPr>
          <p:cNvPr id="4" name="Shape 2"/>
          <p:cNvSpPr/>
          <p:nvPr/>
        </p:nvSpPr>
        <p:spPr>
          <a:xfrm>
            <a:off x="815975" y="2492276"/>
            <a:ext cx="3380284" cy="2053481"/>
          </a:xfrm>
          <a:prstGeom prst="roundRect">
            <a:avLst>
              <a:gd name="adj" fmla="val 4793"/>
            </a:avLst>
          </a:prstGeom>
          <a:solidFill>
            <a:srgbClr val="FFFFFA"/>
          </a:solidFill>
          <a:ln w="6350">
            <a:solidFill>
              <a:srgbClr val="D9D6CB"/>
            </a:solidFill>
            <a:prstDash val="solid"/>
          </a:ln>
        </p:spPr>
      </p:sp>
      <p:sp>
        <p:nvSpPr>
          <p:cNvPr id="5" name="Text 3"/>
          <p:cNvSpPr/>
          <p:nvPr/>
        </p:nvSpPr>
        <p:spPr>
          <a:xfrm>
            <a:off x="1073150" y="2749451"/>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1D"/>
                </a:solidFill>
                <a:latin typeface="Space Grotesk" pitchFamily="34" charset="0"/>
                <a:ea typeface="Space Grotesk" pitchFamily="34" charset="-122"/>
                <a:cs typeface="Space Grotesk" pitchFamily="34" charset="-120"/>
              </a:rPr>
              <a:t>£9,200</a:t>
            </a:r>
            <a:endParaRPr lang="en-US" sz="3600" dirty="0"/>
          </a:p>
        </p:txBody>
      </p:sp>
      <p:sp>
        <p:nvSpPr>
          <p:cNvPr id="6" name="Text 4"/>
          <p:cNvSpPr/>
          <p:nvPr/>
        </p:nvSpPr>
        <p:spPr>
          <a:xfrm>
            <a:off x="1073150" y="3465711"/>
            <a:ext cx="295191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B5752"/>
                </a:solidFill>
                <a:latin typeface="IBM Plex Sans" pitchFamily="34" charset="0"/>
                <a:ea typeface="IBM Plex Sans" pitchFamily="34" charset="-122"/>
                <a:cs typeface="IBM Plex Sans" pitchFamily="34" charset="-120"/>
              </a:rPr>
              <a:t>Cash in the bank today. It looks fine.</a:t>
            </a:r>
            <a:endParaRPr lang="en-US" sz="1600" dirty="0"/>
          </a:p>
        </p:txBody>
      </p:sp>
      <p:sp>
        <p:nvSpPr>
          <p:cNvPr id="7" name="Shape 5"/>
          <p:cNvSpPr/>
          <p:nvPr/>
        </p:nvSpPr>
        <p:spPr>
          <a:xfrm>
            <a:off x="4405809" y="2492276"/>
            <a:ext cx="3380333" cy="2053481"/>
          </a:xfrm>
          <a:prstGeom prst="roundRect">
            <a:avLst>
              <a:gd name="adj" fmla="val 4793"/>
            </a:avLst>
          </a:prstGeom>
          <a:solidFill>
            <a:srgbClr val="FFFFFA"/>
          </a:solidFill>
          <a:ln w="6350">
            <a:solidFill>
              <a:srgbClr val="D9D6CB"/>
            </a:solidFill>
            <a:prstDash val="solid"/>
          </a:ln>
        </p:spPr>
      </p:sp>
      <p:sp>
        <p:nvSpPr>
          <p:cNvPr id="8" name="Text 6"/>
          <p:cNvSpPr/>
          <p:nvPr/>
        </p:nvSpPr>
        <p:spPr>
          <a:xfrm>
            <a:off x="4662984" y="274945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430E"/>
                </a:solidFill>
                <a:latin typeface="Space Grotesk" pitchFamily="34" charset="0"/>
                <a:ea typeface="Space Grotesk" pitchFamily="34" charset="-122"/>
                <a:cs typeface="Space Grotesk" pitchFamily="34" charset="-120"/>
              </a:rPr>
              <a:t>£6,800</a:t>
            </a:r>
            <a:endParaRPr lang="en-US" sz="3600" dirty="0"/>
          </a:p>
        </p:txBody>
      </p:sp>
      <p:sp>
        <p:nvSpPr>
          <p:cNvPr id="9" name="Text 7"/>
          <p:cNvSpPr/>
          <p:nvPr/>
        </p:nvSpPr>
        <p:spPr>
          <a:xfrm>
            <a:off x="4662984" y="34657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B5752"/>
                </a:solidFill>
                <a:latin typeface="IBM Plex Sans" pitchFamily="34" charset="0"/>
                <a:ea typeface="IBM Plex Sans" pitchFamily="34" charset="-122"/>
                <a:cs typeface="IBM Plex Sans" pitchFamily="34" charset="-120"/>
              </a:rPr>
              <a:t>VAT due to HMRC on 7 November, as summer sales fade.</a:t>
            </a:r>
            <a:endParaRPr lang="en-US" sz="1600" dirty="0"/>
          </a:p>
        </p:txBody>
      </p:sp>
      <p:sp>
        <p:nvSpPr>
          <p:cNvPr id="10" name="Shape 8"/>
          <p:cNvSpPr/>
          <p:nvPr/>
        </p:nvSpPr>
        <p:spPr>
          <a:xfrm>
            <a:off x="7995692" y="2492276"/>
            <a:ext cx="3380333" cy="2053481"/>
          </a:xfrm>
          <a:prstGeom prst="roundRect">
            <a:avLst>
              <a:gd name="adj" fmla="val 4793"/>
            </a:avLst>
          </a:prstGeom>
          <a:solidFill>
            <a:srgbClr val="FFFFFA"/>
          </a:solidFill>
          <a:ln w="6350">
            <a:solidFill>
              <a:srgbClr val="D9D6CB"/>
            </a:solidFill>
            <a:prstDash val="solid"/>
          </a:ln>
        </p:spPr>
      </p:sp>
      <p:sp>
        <p:nvSpPr>
          <p:cNvPr id="11" name="Text 9"/>
          <p:cNvSpPr/>
          <p:nvPr/>
        </p:nvSpPr>
        <p:spPr>
          <a:xfrm>
            <a:off x="8252867" y="274945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430E"/>
                </a:solidFill>
                <a:latin typeface="Space Grotesk" pitchFamily="34" charset="0"/>
                <a:ea typeface="Space Grotesk" pitchFamily="34" charset="-122"/>
                <a:cs typeface="Space Grotesk" pitchFamily="34" charset="-120"/>
              </a:rPr>
              <a:t>£1,500</a:t>
            </a:r>
            <a:endParaRPr lang="en-US" sz="3600" dirty="0"/>
          </a:p>
        </p:txBody>
      </p:sp>
      <p:sp>
        <p:nvSpPr>
          <p:cNvPr id="12" name="Text 10"/>
          <p:cNvSpPr/>
          <p:nvPr/>
        </p:nvSpPr>
        <p:spPr>
          <a:xfrm>
            <a:off x="8252867" y="34657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B5752"/>
                </a:solidFill>
                <a:latin typeface="IBM Plex Sans" pitchFamily="34" charset="0"/>
                <a:ea typeface="IBM Plex Sans" pitchFamily="34" charset="-122"/>
                <a:cs typeface="IBM Plex Sans" pitchFamily="34" charset="-120"/>
              </a:rPr>
              <a:t>Insurance renewal on 3 December, on top of rising wages.</a:t>
            </a:r>
            <a:endParaRPr lang="en-US" sz="1600" dirty="0"/>
          </a:p>
        </p:txBody>
      </p:sp>
      <p:sp>
        <p:nvSpPr>
          <p:cNvPr id="13" name="Text 11"/>
          <p:cNvSpPr/>
          <p:nvPr/>
        </p:nvSpPr>
        <p:spPr>
          <a:xfrm>
            <a:off x="812800" y="4904532"/>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752"/>
                </a:solidFill>
                <a:latin typeface="IBM Plex Sans" pitchFamily="34" charset="0"/>
                <a:ea typeface="IBM Plex Sans" pitchFamily="34" charset="-122"/>
                <a:cs typeface="IBM Plex Sans" pitchFamily="34" charset="-120"/>
              </a:rPr>
              <a:t>A bank balance shows today. It says nothing about next month. The owner needs a warning weeks ahead, the reason behind it, and a way through.</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Harbour Street Café is a fictional shop with synthetic data, built to test Triody.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WHAT TRIODY DOES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Four jobs, from the shop’s own books</a:t>
            </a:r>
            <a:endParaRPr lang="en-US" sz="3600" dirty="0"/>
          </a:p>
        </p:txBody>
      </p:sp>
      <p:sp>
        <p:nvSpPr>
          <p:cNvPr id="4" name="Shape 2"/>
          <p:cNvSpPr/>
          <p:nvPr/>
        </p:nvSpPr>
        <p:spPr>
          <a:xfrm>
            <a:off x="815975" y="1989386"/>
            <a:ext cx="5175250" cy="1347391"/>
          </a:xfrm>
          <a:prstGeom prst="roundRect">
            <a:avLst>
              <a:gd name="adj" fmla="val 7305"/>
            </a:avLst>
          </a:prstGeom>
          <a:solidFill>
            <a:srgbClr val="FFFFFA"/>
          </a:solidFill>
          <a:ln w="6350">
            <a:solidFill>
              <a:srgbClr val="D9D6CB"/>
            </a:solidFill>
            <a:prstDash val="solid"/>
          </a:ln>
        </p:spPr>
      </p:sp>
      <p:pic>
        <p:nvPicPr>
          <p:cNvPr id="5" name="Image 0" descr="Warning">    </p:cNvPr>
          <p:cNvPicPr>
            <a:picLocks noChangeAspect="1"/>
          </p:cNvPicPr>
          <p:nvPr/>
        </p:nvPicPr>
        <p:blipFill>
          <a:blip r:embed="rId1"/>
          <a:srcRect l="0" r="0" t="0" b="0"/>
          <a:stretch/>
        </p:blipFill>
        <p:spPr>
          <a:xfrm>
            <a:off x="1047750" y="2221161"/>
            <a:ext cx="355600" cy="355600"/>
          </a:xfrm>
          <a:prstGeom prst="rect">
            <a:avLst/>
          </a:prstGeom>
        </p:spPr>
      </p:pic>
      <p:sp>
        <p:nvSpPr>
          <p:cNvPr id="6" name="Text 3"/>
          <p:cNvSpPr/>
          <p:nvPr/>
        </p:nvSpPr>
        <p:spPr>
          <a:xfrm>
            <a:off x="1581150" y="2221161"/>
            <a:ext cx="430364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Warn early</a:t>
            </a:r>
            <a:endParaRPr lang="en-US" sz="2200" dirty="0"/>
          </a:p>
        </p:txBody>
      </p:sp>
      <p:sp>
        <p:nvSpPr>
          <p:cNvPr id="7" name="Text 4"/>
          <p:cNvSpPr/>
          <p:nvPr/>
        </p:nvSpPr>
        <p:spPr>
          <a:xfrm>
            <a:off x="1581150" y="2607221"/>
            <a:ext cx="430364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A 60-day cash forecast with ranges, and an alert before the balance drops under the owner’s buffer.</a:t>
            </a:r>
            <a:endParaRPr lang="en-US" sz="1400" dirty="0"/>
          </a:p>
        </p:txBody>
      </p:sp>
      <p:sp>
        <p:nvSpPr>
          <p:cNvPr id="8" name="Shape 5"/>
          <p:cNvSpPr/>
          <p:nvPr/>
        </p:nvSpPr>
        <p:spPr>
          <a:xfrm>
            <a:off x="6200775" y="1989386"/>
            <a:ext cx="5175250" cy="1347391"/>
          </a:xfrm>
          <a:prstGeom prst="roundRect">
            <a:avLst>
              <a:gd name="adj" fmla="val 7305"/>
            </a:avLst>
          </a:prstGeom>
          <a:solidFill>
            <a:srgbClr val="FFFFFA"/>
          </a:solidFill>
          <a:ln w="6350">
            <a:solidFill>
              <a:srgbClr val="D9D6CB"/>
            </a:solidFill>
            <a:prstDash val="solid"/>
          </a:ln>
        </p:spPr>
      </p:sp>
      <p:pic>
        <p:nvPicPr>
          <p:cNvPr id="9" name="Image 1" descr="Search">    </p:cNvPr>
          <p:cNvPicPr>
            <a:picLocks noChangeAspect="1"/>
          </p:cNvPicPr>
          <p:nvPr/>
        </p:nvPicPr>
        <p:blipFill>
          <a:blip r:embed="rId2"/>
          <a:srcRect l="0" r="0" t="0" b="0"/>
          <a:stretch/>
        </p:blipFill>
        <p:spPr>
          <a:xfrm>
            <a:off x="6432550" y="2221161"/>
            <a:ext cx="355600" cy="355600"/>
          </a:xfrm>
          <a:prstGeom prst="rect">
            <a:avLst/>
          </a:prstGeom>
        </p:spPr>
      </p:pic>
      <p:sp>
        <p:nvSpPr>
          <p:cNvPr id="10" name="Text 6"/>
          <p:cNvSpPr/>
          <p:nvPr/>
        </p:nvSpPr>
        <p:spPr>
          <a:xfrm>
            <a:off x="6965950" y="2221161"/>
            <a:ext cx="430364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Explain why</a:t>
            </a:r>
            <a:endParaRPr lang="en-US" sz="2200" dirty="0"/>
          </a:p>
        </p:txBody>
      </p:sp>
      <p:sp>
        <p:nvSpPr>
          <p:cNvPr id="11" name="Text 7"/>
          <p:cNvSpPr/>
          <p:nvPr/>
        </p:nvSpPr>
        <p:spPr>
          <a:xfrm>
            <a:off x="6965950" y="2607221"/>
            <a:ext cx="430364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Names the bills and cost trends behind the gap, in plain words.</a:t>
            </a:r>
            <a:endParaRPr lang="en-US" sz="1400" dirty="0"/>
          </a:p>
        </p:txBody>
      </p:sp>
      <p:sp>
        <p:nvSpPr>
          <p:cNvPr id="12" name="Shape 8"/>
          <p:cNvSpPr/>
          <p:nvPr/>
        </p:nvSpPr>
        <p:spPr>
          <a:xfrm>
            <a:off x="815975" y="3546326"/>
            <a:ext cx="5175250" cy="1347391"/>
          </a:xfrm>
          <a:prstGeom prst="roundRect">
            <a:avLst>
              <a:gd name="adj" fmla="val 7305"/>
            </a:avLst>
          </a:prstGeom>
          <a:solidFill>
            <a:srgbClr val="FFFFFA"/>
          </a:solidFill>
          <a:ln w="6350">
            <a:solidFill>
              <a:srgbClr val="D9D6CB"/>
            </a:solidFill>
            <a:prstDash val="solid"/>
          </a:ln>
        </p:spPr>
      </p:sp>
      <p:pic>
        <p:nvPicPr>
          <p:cNvPr id="13" name="Image 2" descr="Chat">    </p:cNvPr>
          <p:cNvPicPr>
            <a:picLocks noChangeAspect="1"/>
          </p:cNvPicPr>
          <p:nvPr/>
        </p:nvPicPr>
        <p:blipFill>
          <a:blip r:embed="rId3"/>
          <a:srcRect l="0" r="0" t="0" b="0"/>
          <a:stretch/>
        </p:blipFill>
        <p:spPr>
          <a:xfrm>
            <a:off x="1047750" y="3778101"/>
            <a:ext cx="355600" cy="355600"/>
          </a:xfrm>
          <a:prstGeom prst="rect">
            <a:avLst/>
          </a:prstGeom>
        </p:spPr>
      </p:pic>
      <p:sp>
        <p:nvSpPr>
          <p:cNvPr id="14" name="Text 9"/>
          <p:cNvSpPr/>
          <p:nvPr/>
        </p:nvSpPr>
        <p:spPr>
          <a:xfrm>
            <a:off x="1581150" y="3778101"/>
            <a:ext cx="430364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Answer questions</a:t>
            </a:r>
            <a:endParaRPr lang="en-US" sz="2200" dirty="0"/>
          </a:p>
        </p:txBody>
      </p:sp>
      <p:sp>
        <p:nvSpPr>
          <p:cNvPr id="15" name="Text 10"/>
          <p:cNvSpPr/>
          <p:nvPr/>
        </p:nvSpPr>
        <p:spPr>
          <a:xfrm>
            <a:off x="1581150" y="4164161"/>
            <a:ext cx="430364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“Profit in Q3?”, “What if sales drop 10%?”, typos and all.</a:t>
            </a:r>
            <a:endParaRPr lang="en-US" sz="1400" dirty="0"/>
          </a:p>
        </p:txBody>
      </p:sp>
      <p:sp>
        <p:nvSpPr>
          <p:cNvPr id="16" name="Shape 11"/>
          <p:cNvSpPr/>
          <p:nvPr/>
        </p:nvSpPr>
        <p:spPr>
          <a:xfrm>
            <a:off x="6200775" y="3546326"/>
            <a:ext cx="5175250" cy="1347391"/>
          </a:xfrm>
          <a:prstGeom prst="roundRect">
            <a:avLst>
              <a:gd name="adj" fmla="val 7305"/>
            </a:avLst>
          </a:prstGeom>
          <a:solidFill>
            <a:srgbClr val="FFFFFA"/>
          </a:solidFill>
          <a:ln w="6350">
            <a:solidFill>
              <a:srgbClr val="D9D6CB"/>
            </a:solidFill>
            <a:prstDash val="solid"/>
          </a:ln>
        </p:spPr>
      </p:sp>
      <p:pic>
        <p:nvPicPr>
          <p:cNvPr id="17" name="Image 3" descr="Key">    </p:cNvPr>
          <p:cNvPicPr>
            <a:picLocks noChangeAspect="1"/>
          </p:cNvPicPr>
          <p:nvPr/>
        </p:nvPicPr>
        <p:blipFill>
          <a:blip r:embed="rId4"/>
          <a:srcRect l="0" r="0" t="0" b="0"/>
          <a:stretch/>
        </p:blipFill>
        <p:spPr>
          <a:xfrm>
            <a:off x="6432550" y="3778101"/>
            <a:ext cx="355600" cy="355600"/>
          </a:xfrm>
          <a:prstGeom prst="rect">
            <a:avLst/>
          </a:prstGeom>
        </p:spPr>
      </p:pic>
      <p:sp>
        <p:nvSpPr>
          <p:cNvPr id="18" name="Text 12"/>
          <p:cNvSpPr/>
          <p:nvPr/>
        </p:nvSpPr>
        <p:spPr>
          <a:xfrm>
            <a:off x="6965950" y="3778101"/>
            <a:ext cx="430364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Find financing</a:t>
            </a:r>
            <a:endParaRPr lang="en-US" sz="2200" dirty="0"/>
          </a:p>
        </p:txBody>
      </p:sp>
      <p:sp>
        <p:nvSpPr>
          <p:cNvPr id="19" name="Text 13"/>
          <p:cNvSpPr/>
          <p:nvPr/>
        </p:nvSpPr>
        <p:spPr>
          <a:xfrm>
            <a:off x="6965950" y="4164161"/>
            <a:ext cx="430364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Ranks UK and China options, tests the best one on the forecast, drafts the paperwork.</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Covers all three Topic E needs: financing matching, cash-flow alerts, business analysis.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B0"/>
                </a:solidFill>
                <a:latin typeface="IBM Plex Sans" pitchFamily="34" charset="0"/>
                <a:ea typeface="IBM Plex Sans" pitchFamily="34" charset="-122"/>
                <a:cs typeface="IBM Plex Sans" pitchFamily="34" charset="-120"/>
              </a:rPr>
              <a:t>DEMO: THE DAILY CHECK</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Space Grotesk" pitchFamily="34" charset="0"/>
                <a:ea typeface="Space Grotesk" pitchFamily="34" charset="-122"/>
                <a:cs typeface="Space Grotesk" pitchFamily="34" charset="-120"/>
              </a:rPr>
              <a:t>Triody runs its own check and raises a critical alert</a:t>
            </a:r>
            <a:endParaRPr lang="en-US" sz="3600" dirty="0"/>
          </a:p>
        </p:txBody>
      </p:sp>
      <p:sp>
        <p:nvSpPr>
          <p:cNvPr id="4" name="Shape 2"/>
          <p:cNvSpPr/>
          <p:nvPr/>
        </p:nvSpPr>
        <p:spPr>
          <a:xfrm>
            <a:off x="812800" y="2501801"/>
            <a:ext cx="3386634" cy="0"/>
          </a:xfrm>
          <a:prstGeom prst="line">
            <a:avLst/>
          </a:prstGeom>
          <a:noFill/>
          <a:ln w="25400">
            <a:solidFill>
              <a:srgbClr val="F2A65A"/>
            </a:solidFill>
            <a:prstDash val="solid"/>
          </a:ln>
        </p:spPr>
      </p:sp>
      <p:sp>
        <p:nvSpPr>
          <p:cNvPr id="5" name="Text 3"/>
          <p:cNvSpPr/>
          <p:nvPr/>
        </p:nvSpPr>
        <p:spPr>
          <a:xfrm>
            <a:off x="812800" y="2692301"/>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65A"/>
                </a:solidFill>
                <a:latin typeface="Space Grotesk" pitchFamily="34" charset="0"/>
                <a:ea typeface="Space Grotesk" pitchFamily="34" charset="-122"/>
                <a:cs typeface="Space Grotesk" pitchFamily="34" charset="-120"/>
              </a:rPr>
              <a:t>66%</a:t>
            </a:r>
            <a:endParaRPr lang="en-US" sz="6000" dirty="0"/>
          </a:p>
        </p:txBody>
      </p:sp>
      <p:sp>
        <p:nvSpPr>
          <p:cNvPr id="6" name="Text 4"/>
          <p:cNvSpPr/>
          <p:nvPr/>
        </p:nvSpPr>
        <p:spPr>
          <a:xfrm>
            <a:off x="812800" y="3530501"/>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DED9"/>
                </a:solidFill>
                <a:latin typeface="IBM Plex Sans" pitchFamily="34" charset="0"/>
                <a:ea typeface="IBM Plex Sans" pitchFamily="34" charset="-122"/>
                <a:cs typeface="IBM Plex Sans" pitchFamily="34" charset="-120"/>
              </a:rPr>
              <a:t>chance the balance goes below zero in the next 60 days</a:t>
            </a:r>
            <a:endParaRPr lang="en-US" sz="1600" dirty="0"/>
          </a:p>
        </p:txBody>
      </p:sp>
      <p:sp>
        <p:nvSpPr>
          <p:cNvPr id="7" name="Shape 5"/>
          <p:cNvSpPr/>
          <p:nvPr/>
        </p:nvSpPr>
        <p:spPr>
          <a:xfrm>
            <a:off x="4402634" y="2501801"/>
            <a:ext cx="3386683" cy="0"/>
          </a:xfrm>
          <a:prstGeom prst="line">
            <a:avLst/>
          </a:prstGeom>
          <a:noFill/>
          <a:ln w="25400">
            <a:solidFill>
              <a:srgbClr val="F2A65A"/>
            </a:solidFill>
            <a:prstDash val="solid"/>
          </a:ln>
        </p:spPr>
      </p:sp>
      <p:sp>
        <p:nvSpPr>
          <p:cNvPr id="8" name="Text 6"/>
          <p:cNvSpPr/>
          <p:nvPr/>
        </p:nvSpPr>
        <p:spPr>
          <a:xfrm>
            <a:off x="4402634" y="2692301"/>
            <a:ext cx="34882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65A"/>
                </a:solidFill>
                <a:latin typeface="Space Grotesk" pitchFamily="34" charset="0"/>
                <a:ea typeface="Space Grotesk" pitchFamily="34" charset="-122"/>
                <a:cs typeface="Space Grotesk" pitchFamily="34" charset="-120"/>
              </a:rPr>
              <a:t>−£1,194</a:t>
            </a:r>
            <a:endParaRPr lang="en-US" sz="6000" dirty="0"/>
          </a:p>
        </p:txBody>
      </p:sp>
      <p:sp>
        <p:nvSpPr>
          <p:cNvPr id="9" name="Text 7"/>
          <p:cNvSpPr/>
          <p:nvPr/>
        </p:nvSpPr>
        <p:spPr>
          <a:xfrm>
            <a:off x="4402634" y="3530501"/>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DED9"/>
                </a:solidFill>
                <a:latin typeface="IBM Plex Sans" pitchFamily="34" charset="0"/>
                <a:ea typeface="IBM Plex Sans" pitchFamily="34" charset="-122"/>
                <a:cs typeface="IBM Plex Sans" pitchFamily="34" charset="-120"/>
              </a:rPr>
              <a:t>lowest expected balance, on 7 December</a:t>
            </a:r>
            <a:endParaRPr lang="en-US" sz="1600" dirty="0"/>
          </a:p>
        </p:txBody>
      </p:sp>
      <p:sp>
        <p:nvSpPr>
          <p:cNvPr id="10" name="Shape 8"/>
          <p:cNvSpPr/>
          <p:nvPr/>
        </p:nvSpPr>
        <p:spPr>
          <a:xfrm>
            <a:off x="7992517" y="2501801"/>
            <a:ext cx="3386683" cy="0"/>
          </a:xfrm>
          <a:prstGeom prst="line">
            <a:avLst/>
          </a:prstGeom>
          <a:noFill/>
          <a:ln w="25400">
            <a:solidFill>
              <a:srgbClr val="6FD3B0"/>
            </a:solidFill>
            <a:prstDash val="solid"/>
          </a:ln>
        </p:spPr>
      </p:sp>
      <p:sp>
        <p:nvSpPr>
          <p:cNvPr id="11" name="Text 9"/>
          <p:cNvSpPr/>
          <p:nvPr/>
        </p:nvSpPr>
        <p:spPr>
          <a:xfrm>
            <a:off x="7992517" y="2692301"/>
            <a:ext cx="34882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FD3B0"/>
                </a:solidFill>
                <a:latin typeface="Space Grotesk" pitchFamily="34" charset="0"/>
                <a:ea typeface="Space Grotesk" pitchFamily="34" charset="-122"/>
                <a:cs typeface="Space Grotesk" pitchFamily="34" charset="-120"/>
              </a:rPr>
              <a:t>24 days</a:t>
            </a:r>
            <a:endParaRPr lang="en-US" sz="6000" dirty="0"/>
          </a:p>
        </p:txBody>
      </p:sp>
      <p:sp>
        <p:nvSpPr>
          <p:cNvPr id="12" name="Text 10"/>
          <p:cNvSpPr/>
          <p:nvPr/>
        </p:nvSpPr>
        <p:spPr>
          <a:xfrm>
            <a:off x="7992517" y="3530501"/>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DED9"/>
                </a:solidFill>
                <a:latin typeface="IBM Plex Sans" pitchFamily="34" charset="0"/>
                <a:ea typeface="IBM Plex Sans" pitchFamily="34" charset="-122"/>
                <a:cs typeface="IBM Plex Sans" pitchFamily="34" charset="-120"/>
              </a:rPr>
              <a:t>of warning before the risk of breaking the £2,500 buffer reaches 25%</a:t>
            </a:r>
            <a:endParaRPr lang="en-US" sz="1600" dirty="0"/>
          </a:p>
        </p:txBody>
      </p:sp>
      <p:sp>
        <p:nvSpPr>
          <p:cNvPr id="13" name="Text 11"/>
          <p:cNvSpPr/>
          <p:nvPr/>
        </p:nvSpPr>
        <p:spPr>
          <a:xfrm>
            <a:off x="812800" y="4434681"/>
            <a:ext cx="104648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7C0"/>
                </a:solidFill>
                <a:latin typeface="IBM Plex Sans" pitchFamily="34" charset="0"/>
                <a:ea typeface="IBM Plex Sans" pitchFamily="34" charset="-122"/>
                <a:cs typeface="IBM Plex Sans" pitchFamily="34" charset="-120"/>
              </a:rPr>
              <a:t>Cause, in Triody’s words: the £6,800 VAT bill, the £1,500 insurance renewal, and supplier bills at 35% of sales with wages at 38%.</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9A"/>
                </a:solidFill>
                <a:latin typeface="IBM Plex Sans" pitchFamily="34" charset="0"/>
                <a:ea typeface="IBM Plex Sans" pitchFamily="34" charset="-122"/>
                <a:cs typeface="IBM Plex Sans" pitchFamily="34" charset="-120"/>
              </a:rPr>
              <a:t>From evidence/demo_transcript.md, generated by python -m triody evidence.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DEMO: FINANCING AND THE PLAN TEST</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Best fit: pay £5,000 of the VAT bill over 10 months</a:t>
            </a:r>
            <a:endParaRPr lang="en-US" sz="3600" dirty="0"/>
          </a:p>
        </p:txBody>
      </p:sp>
      <p:sp>
        <p:nvSpPr>
          <p:cNvPr id="4" name="Shape 2"/>
          <p:cNvSpPr/>
          <p:nvPr/>
        </p:nvSpPr>
        <p:spPr>
          <a:xfrm>
            <a:off x="815975" y="2441476"/>
            <a:ext cx="5410200" cy="2749203"/>
          </a:xfrm>
          <a:prstGeom prst="roundRect">
            <a:avLst>
              <a:gd name="adj" fmla="val 3580"/>
            </a:avLst>
          </a:prstGeom>
          <a:solidFill>
            <a:srgbClr val="FFFFFA"/>
          </a:solidFill>
          <a:ln w="6350">
            <a:solidFill>
              <a:srgbClr val="D9D6CB"/>
            </a:solidFill>
            <a:prstDash val="solid"/>
          </a:ln>
        </p:spPr>
      </p:sp>
      <p:sp>
        <p:nvSpPr>
          <p:cNvPr id="5" name="Text 3"/>
          <p:cNvSpPr/>
          <p:nvPr/>
        </p:nvSpPr>
        <p:spPr>
          <a:xfrm>
            <a:off x="1073150" y="2698651"/>
            <a:ext cx="504272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HMRC Time to Pay, score 93/100</a:t>
            </a:r>
            <a:endParaRPr lang="en-US" sz="2200" dirty="0"/>
          </a:p>
        </p:txBody>
      </p:sp>
      <p:sp>
        <p:nvSpPr>
          <p:cNvPr id="6" name="Text 4"/>
          <p:cNvSpPr/>
          <p:nvPr/>
        </p:nvSpPr>
        <p:spPr>
          <a:xfrm>
            <a:off x="1151382" y="3135511"/>
            <a:ext cx="4956873"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B5752"/>
                </a:solidFill>
                <a:latin typeface="IBM Plex Sans" pitchFamily="34" charset="0"/>
                <a:ea typeface="IBM Plex Sans" pitchFamily="34" charset="-122"/>
                <a:cs typeface="IBM Plex Sans" pitchFamily="34" charset="-120"/>
              </a:rPr>
              <a:t>Not a loan. No money is paid to the café.</a:t>
            </a:r>
            <a:endParaRPr lang="en-US" sz="1400" dirty="0"/>
          </a:p>
          <a:p>
            <a:pPr algn="l" marL="175768" indent="-175768">
              <a:lnSpc>
                <a:spcPts val="2030"/>
              </a:lnSpc>
              <a:buSzPct val="100000"/>
              <a:buChar char="•"/>
            </a:pPr>
            <a:r>
              <a:rPr lang="en-US" sz="1400" dirty="0">
                <a:solidFill>
                  <a:srgbClr val="4B5752"/>
                </a:solidFill>
                <a:latin typeface="IBM Plex Sans" pitchFamily="34" charset="0"/>
                <a:ea typeface="IBM Plex Sans" pitchFamily="34" charset="-122"/>
                <a:cs typeface="IBM Plex Sans" pitchFamily="34" charset="-120"/>
              </a:rPr>
              <a:t>About £179 interest, at 7.75% a year</a:t>
            </a:r>
            <a:endParaRPr lang="en-US" sz="1400" dirty="0"/>
          </a:p>
          <a:p>
            <a:pPr algn="l" marL="175768" indent="-175768">
              <a:lnSpc>
                <a:spcPts val="2030"/>
              </a:lnSpc>
              <a:buSzPct val="100000"/>
              <a:buChar char="•"/>
            </a:pPr>
            <a:r>
              <a:rPr lang="en-US" sz="1400" dirty="0">
                <a:solidFill>
                  <a:srgbClr val="4B5752"/>
                </a:solidFill>
                <a:latin typeface="IBM Plex Sans" pitchFamily="34" charset="0"/>
                <a:ea typeface="IBM Plex Sans" pitchFamily="34" charset="-122"/>
                <a:cs typeface="IBM Plex Sans" pitchFamily="34" charset="-120"/>
              </a:rPr>
              <a:t>10 payments of about £518, 47% of free cash flow (limit 50%)</a:t>
            </a:r>
            <a:endParaRPr lang="en-US" sz="1400" dirty="0"/>
          </a:p>
          <a:p>
            <a:pPr algn="l" marL="175768" indent="-175768">
              <a:lnSpc>
                <a:spcPts val="2030"/>
              </a:lnSpc>
              <a:buSzPct val="100000"/>
              <a:buChar char="•"/>
            </a:pPr>
            <a:r>
              <a:rPr lang="en-US" sz="1400" dirty="0">
                <a:solidFill>
                  <a:srgbClr val="4B5752"/>
                </a:solidFill>
                <a:latin typeface="IBM Plex Sans" pitchFamily="34" charset="0"/>
                <a:ea typeface="IBM Plex Sans" pitchFamily="34" charset="-122"/>
                <a:cs typeface="IBM Plex Sans" pitchFamily="34" charset="-120"/>
              </a:rPr>
              <a:t>Next: overdraft (74), iwoca (61). 6 products ruled out, each with a reason.</a:t>
            </a:r>
            <a:endParaRPr lang="en-US" sz="1400" dirty="0"/>
          </a:p>
        </p:txBody>
      </p:sp>
      <p:sp>
        <p:nvSpPr>
          <p:cNvPr id="7" name="Text 5"/>
          <p:cNvSpPr/>
          <p:nvPr/>
        </p:nvSpPr>
        <p:spPr>
          <a:xfrm>
            <a:off x="6483350" y="2438301"/>
            <a:ext cx="504272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1D"/>
                </a:solidFill>
                <a:latin typeface="Space Grotesk" pitchFamily="34" charset="0"/>
                <a:ea typeface="Space Grotesk" pitchFamily="34" charset="-122"/>
                <a:cs typeface="Space Grotesk" pitchFamily="34" charset="-120"/>
              </a:rPr>
              <a:t>Tested on the forecast</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96050" y="2913261"/>
          <a:ext cx="4883150" cy="1655812"/>
        </p:xfrm>
        <a:graphic>
          <a:graphicData uri="http://schemas.openxmlformats.org/drawingml/2006/table">
            <a:tbl>
              <a:tblPr/>
              <a:tblGrid>
                <a:gridCol w="2246249"/>
                <a:gridCol w="1318451"/>
                <a:gridCol w="1318451"/>
              </a:tblGrid>
              <a:tr h="634901">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Chance of going below zero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Without 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With 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8601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Next 60 days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66%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Whole plan, to Sept 2027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59%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9" name="Text 6"/>
          <p:cNvSpPr/>
          <p:nvPr/>
        </p:nvSpPr>
        <p:spPr>
          <a:xfrm>
            <a:off x="6483350" y="4696073"/>
            <a:ext cx="504272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430E"/>
                </a:solidFill>
                <a:latin typeface="IBM Plex Sans" pitchFamily="34" charset="0"/>
                <a:ea typeface="IBM Plex Sans" pitchFamily="34" charset="-122"/>
                <a:cs typeface="IBM Plex Sans" pitchFamily="34" charset="-120"/>
              </a:rPr>
              <a:t>Triody tells the owner: the plan buys time, but it does not close the gap on its own.</a:t>
            </a:r>
            <a:endParaRPr lang="en-US" sz="14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Rates from published sources, each with its link and the date checked. Information, not regulated advice.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Every request takes one path through one gate</a:t>
            </a:r>
            <a:endParaRPr lang="en-US" sz="3600" dirty="0"/>
          </a:p>
        </p:txBody>
      </p:sp>
      <p:sp>
        <p:nvSpPr>
          <p:cNvPr id="4" name="Shape 2"/>
          <p:cNvSpPr/>
          <p:nvPr/>
        </p:nvSpPr>
        <p:spPr>
          <a:xfrm>
            <a:off x="815975" y="2092226"/>
            <a:ext cx="1697980" cy="1017240"/>
          </a:xfrm>
          <a:prstGeom prst="roundRect">
            <a:avLst>
              <a:gd name="adj" fmla="val 7179"/>
            </a:avLst>
          </a:prstGeom>
          <a:solidFill>
            <a:srgbClr val="FFFFFA"/>
          </a:solidFill>
          <a:ln w="6350">
            <a:solidFill>
              <a:srgbClr val="D9D6CB"/>
            </a:solidFill>
            <a:prstDash val="solid"/>
          </a:ln>
        </p:spPr>
      </p:sp>
      <p:sp>
        <p:nvSpPr>
          <p:cNvPr id="5" name="Text 3"/>
          <p:cNvSpPr/>
          <p:nvPr/>
        </p:nvSpPr>
        <p:spPr>
          <a:xfrm>
            <a:off x="971550" y="2247801"/>
            <a:ext cx="1437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Interface</a:t>
            </a:r>
            <a:endParaRPr lang="en-US" sz="1600" dirty="0"/>
          </a:p>
        </p:txBody>
      </p:sp>
      <p:sp>
        <p:nvSpPr>
          <p:cNvPr id="6" name="Text 4"/>
          <p:cNvSpPr/>
          <p:nvPr/>
        </p:nvSpPr>
        <p:spPr>
          <a:xfrm>
            <a:off x="971550" y="2542431"/>
            <a:ext cx="143763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752"/>
                </a:solidFill>
                <a:latin typeface="IBM Plex Sans" pitchFamily="34" charset="0"/>
                <a:ea typeface="IBM Plex Sans" pitchFamily="34" charset="-122"/>
                <a:cs typeface="IBM Plex Sans" pitchFamily="34" charset="-120"/>
              </a:rPr>
              <a:t>Dashboard, phone app or terminal</a:t>
            </a:r>
            <a:endParaRPr lang="en-US" sz="1200" dirty="0"/>
          </a:p>
        </p:txBody>
      </p:sp>
      <p:pic>
        <p:nvPicPr>
          <p:cNvPr id="7" name="Image 0" descr="arrow-right">    </p:cNvPr>
          <p:cNvPicPr>
            <a:picLocks noChangeAspect="1"/>
          </p:cNvPicPr>
          <p:nvPr/>
        </p:nvPicPr>
        <p:blipFill>
          <a:blip r:embed="rId1"/>
          <a:srcRect l="0" r="0" t="0" b="0"/>
          <a:stretch/>
        </p:blipFill>
        <p:spPr>
          <a:xfrm>
            <a:off x="2618730" y="2524671"/>
            <a:ext cx="304800" cy="152400"/>
          </a:xfrm>
          <a:prstGeom prst="rect">
            <a:avLst/>
          </a:prstGeom>
        </p:spPr>
      </p:pic>
      <p:sp>
        <p:nvSpPr>
          <p:cNvPr id="8" name="Shape 5"/>
          <p:cNvSpPr/>
          <p:nvPr/>
        </p:nvSpPr>
        <p:spPr>
          <a:xfrm>
            <a:off x="3028305" y="1989386"/>
            <a:ext cx="1698030" cy="1222970"/>
          </a:xfrm>
          <a:prstGeom prst="roundRect">
            <a:avLst>
              <a:gd name="adj" fmla="val 5971"/>
            </a:avLst>
          </a:prstGeom>
          <a:solidFill>
            <a:srgbClr val="FFFFFA"/>
          </a:solidFill>
          <a:ln w="6350">
            <a:solidFill>
              <a:srgbClr val="D9D6CB"/>
            </a:solidFill>
            <a:prstDash val="solid"/>
          </a:ln>
        </p:spPr>
      </p:sp>
      <p:sp>
        <p:nvSpPr>
          <p:cNvPr id="9" name="Text 6"/>
          <p:cNvSpPr/>
          <p:nvPr/>
        </p:nvSpPr>
        <p:spPr>
          <a:xfrm>
            <a:off x="3183880" y="2144961"/>
            <a:ext cx="14376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Brain</a:t>
            </a:r>
            <a:endParaRPr lang="en-US" sz="1600" dirty="0"/>
          </a:p>
        </p:txBody>
      </p:sp>
      <p:sp>
        <p:nvSpPr>
          <p:cNvPr id="10" name="Text 7"/>
          <p:cNvSpPr/>
          <p:nvPr/>
        </p:nvSpPr>
        <p:spPr>
          <a:xfrm>
            <a:off x="3183880" y="2439591"/>
            <a:ext cx="143768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752"/>
                </a:solidFill>
                <a:latin typeface="IBM Plex Sans" pitchFamily="34" charset="0"/>
                <a:ea typeface="IBM Plex Sans" pitchFamily="34" charset="-122"/>
                <a:cs typeface="IBM Plex Sans" pitchFamily="34" charset="-120"/>
              </a:rPr>
              <a:t>Rules, or an optional language model</a:t>
            </a:r>
            <a:endParaRPr lang="en-US" sz="1200" dirty="0"/>
          </a:p>
        </p:txBody>
      </p:sp>
      <p:pic>
        <p:nvPicPr>
          <p:cNvPr id="11" name="Image 1" descr="arrow-right">    </p:cNvPr>
          <p:cNvPicPr>
            <a:picLocks noChangeAspect="1"/>
          </p:cNvPicPr>
          <p:nvPr/>
        </p:nvPicPr>
        <p:blipFill>
          <a:blip r:embed="rId2"/>
          <a:srcRect l="0" r="0" t="0" b="0"/>
          <a:stretch/>
        </p:blipFill>
        <p:spPr>
          <a:xfrm>
            <a:off x="4831110" y="2524671"/>
            <a:ext cx="304800" cy="152400"/>
          </a:xfrm>
          <a:prstGeom prst="rect">
            <a:avLst/>
          </a:prstGeom>
        </p:spPr>
      </p:pic>
      <p:sp>
        <p:nvSpPr>
          <p:cNvPr id="12" name="Shape 8"/>
          <p:cNvSpPr/>
          <p:nvPr/>
        </p:nvSpPr>
        <p:spPr>
          <a:xfrm>
            <a:off x="5243860" y="2089051"/>
            <a:ext cx="1704330" cy="1023590"/>
          </a:xfrm>
          <a:prstGeom prst="roundRect">
            <a:avLst>
              <a:gd name="adj" fmla="val 6824"/>
            </a:avLst>
          </a:prstGeom>
          <a:solidFill>
            <a:srgbClr val="E3F1EB"/>
          </a:solidFill>
          <a:ln w="12700">
            <a:solidFill>
              <a:srgbClr val="0E6B55"/>
            </a:solidFill>
            <a:prstDash val="solid"/>
          </a:ln>
        </p:spPr>
      </p:sp>
      <p:sp>
        <p:nvSpPr>
          <p:cNvPr id="13" name="Text 9"/>
          <p:cNvSpPr/>
          <p:nvPr/>
        </p:nvSpPr>
        <p:spPr>
          <a:xfrm>
            <a:off x="5402610" y="2247801"/>
            <a:ext cx="1437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Policy gate</a:t>
            </a:r>
            <a:endParaRPr lang="en-US" sz="1600" dirty="0"/>
          </a:p>
        </p:txBody>
      </p:sp>
      <p:sp>
        <p:nvSpPr>
          <p:cNvPr id="14" name="Text 10"/>
          <p:cNvSpPr/>
          <p:nvPr/>
        </p:nvSpPr>
        <p:spPr>
          <a:xfrm>
            <a:off x="5402610" y="2542431"/>
            <a:ext cx="143763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752"/>
                </a:solidFill>
                <a:latin typeface="IBM Plex Sans" pitchFamily="34" charset="0"/>
                <a:ea typeface="IBM Plex Sans" pitchFamily="34" charset="-122"/>
                <a:cs typeface="IBM Plex Sans" pitchFamily="34" charset="-120"/>
              </a:rPr>
              <a:t>Checks tier, code, limits</a:t>
            </a:r>
            <a:endParaRPr lang="en-US" sz="1200" dirty="0"/>
          </a:p>
        </p:txBody>
      </p:sp>
      <p:pic>
        <p:nvPicPr>
          <p:cNvPr id="15" name="Image 2" descr="arrow-right">    </p:cNvPr>
          <p:cNvPicPr>
            <a:picLocks noChangeAspect="1"/>
          </p:cNvPicPr>
          <p:nvPr/>
        </p:nvPicPr>
        <p:blipFill>
          <a:blip r:embed="rId3"/>
          <a:srcRect l="0" r="0" t="0" b="0"/>
          <a:stretch/>
        </p:blipFill>
        <p:spPr>
          <a:xfrm>
            <a:off x="7056140" y="2524671"/>
            <a:ext cx="304800" cy="152400"/>
          </a:xfrm>
          <a:prstGeom prst="rect">
            <a:avLst/>
          </a:prstGeom>
        </p:spPr>
      </p:pic>
      <p:sp>
        <p:nvSpPr>
          <p:cNvPr id="16" name="Shape 11"/>
          <p:cNvSpPr/>
          <p:nvPr/>
        </p:nvSpPr>
        <p:spPr>
          <a:xfrm>
            <a:off x="7465715" y="2195116"/>
            <a:ext cx="1697980" cy="811510"/>
          </a:xfrm>
          <a:prstGeom prst="roundRect">
            <a:avLst>
              <a:gd name="adj" fmla="val 8999"/>
            </a:avLst>
          </a:prstGeom>
          <a:solidFill>
            <a:srgbClr val="FFFFFA"/>
          </a:solidFill>
          <a:ln w="6350">
            <a:solidFill>
              <a:srgbClr val="D9D6CB"/>
            </a:solidFill>
            <a:prstDash val="solid"/>
          </a:ln>
        </p:spPr>
      </p:sp>
      <p:sp>
        <p:nvSpPr>
          <p:cNvPr id="17" name="Text 12"/>
          <p:cNvSpPr/>
          <p:nvPr/>
        </p:nvSpPr>
        <p:spPr>
          <a:xfrm>
            <a:off x="7621290" y="2350691"/>
            <a:ext cx="1437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22 tools</a:t>
            </a:r>
            <a:endParaRPr lang="en-US" sz="1600" dirty="0"/>
          </a:p>
        </p:txBody>
      </p:sp>
      <p:sp>
        <p:nvSpPr>
          <p:cNvPr id="18" name="Text 13"/>
          <p:cNvSpPr/>
          <p:nvPr/>
        </p:nvSpPr>
        <p:spPr>
          <a:xfrm>
            <a:off x="7621290" y="2645321"/>
            <a:ext cx="153923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752"/>
                </a:solidFill>
                <a:latin typeface="IBM Plex Sans" pitchFamily="34" charset="0"/>
                <a:ea typeface="IBM Plex Sans" pitchFamily="34" charset="-122"/>
                <a:cs typeface="IBM Plex Sans" pitchFamily="34" charset="-120"/>
              </a:rPr>
              <a:t>Each with a schema</a:t>
            </a:r>
            <a:endParaRPr lang="en-US" sz="1200" dirty="0"/>
          </a:p>
        </p:txBody>
      </p:sp>
      <p:pic>
        <p:nvPicPr>
          <p:cNvPr id="19" name="Image 3" descr="arrow-right">    </p:cNvPr>
          <p:cNvPicPr>
            <a:picLocks noChangeAspect="1"/>
          </p:cNvPicPr>
          <p:nvPr/>
        </p:nvPicPr>
        <p:blipFill>
          <a:blip r:embed="rId4"/>
          <a:srcRect l="0" r="0" t="0" b="0"/>
          <a:stretch/>
        </p:blipFill>
        <p:spPr>
          <a:xfrm>
            <a:off x="9268470" y="2524671"/>
            <a:ext cx="304800" cy="152400"/>
          </a:xfrm>
          <a:prstGeom prst="rect">
            <a:avLst/>
          </a:prstGeom>
        </p:spPr>
      </p:pic>
      <p:sp>
        <p:nvSpPr>
          <p:cNvPr id="20" name="Shape 14"/>
          <p:cNvSpPr/>
          <p:nvPr/>
        </p:nvSpPr>
        <p:spPr>
          <a:xfrm>
            <a:off x="9678045" y="2092226"/>
            <a:ext cx="1697980" cy="1017240"/>
          </a:xfrm>
          <a:prstGeom prst="roundRect">
            <a:avLst>
              <a:gd name="adj" fmla="val 7179"/>
            </a:avLst>
          </a:prstGeom>
          <a:solidFill>
            <a:srgbClr val="FFFFFA"/>
          </a:solidFill>
          <a:ln w="6350">
            <a:solidFill>
              <a:srgbClr val="D9D6CB"/>
            </a:solidFill>
            <a:prstDash val="solid"/>
          </a:ln>
        </p:spPr>
      </p:sp>
      <p:sp>
        <p:nvSpPr>
          <p:cNvPr id="21" name="Text 15"/>
          <p:cNvSpPr/>
          <p:nvPr/>
        </p:nvSpPr>
        <p:spPr>
          <a:xfrm>
            <a:off x="9833620" y="2247801"/>
            <a:ext cx="1437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Engines</a:t>
            </a:r>
            <a:endParaRPr lang="en-US" sz="1600" dirty="0"/>
          </a:p>
        </p:txBody>
      </p:sp>
      <p:sp>
        <p:nvSpPr>
          <p:cNvPr id="22" name="Text 16"/>
          <p:cNvSpPr/>
          <p:nvPr/>
        </p:nvSpPr>
        <p:spPr>
          <a:xfrm>
            <a:off x="9833620" y="2542431"/>
            <a:ext cx="143763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752"/>
                </a:solidFill>
                <a:latin typeface="IBM Plex Sans" pitchFamily="34" charset="0"/>
                <a:ea typeface="IBM Plex Sans" pitchFamily="34" charset="-122"/>
                <a:cs typeface="IBM Plex Sans" pitchFamily="34" charset="-120"/>
              </a:rPr>
              <a:t>Forecast, financing, analysis</a:t>
            </a:r>
            <a:endParaRPr lang="en-US" sz="1200" dirty="0"/>
          </a:p>
        </p:txBody>
      </p:sp>
      <p:sp>
        <p:nvSpPr>
          <p:cNvPr id="23" name="Shape 17"/>
          <p:cNvSpPr/>
          <p:nvPr/>
        </p:nvSpPr>
        <p:spPr>
          <a:xfrm>
            <a:off x="831850" y="3571131"/>
            <a:ext cx="0" cy="894011"/>
          </a:xfrm>
          <a:prstGeom prst="line">
            <a:avLst/>
          </a:prstGeom>
          <a:noFill/>
          <a:ln w="38100">
            <a:solidFill>
              <a:srgbClr val="0E6B55"/>
            </a:solidFill>
            <a:prstDash val="solid"/>
          </a:ln>
        </p:spPr>
      </p:sp>
      <p:sp>
        <p:nvSpPr>
          <p:cNvPr id="24" name="Text 18"/>
          <p:cNvSpPr/>
          <p:nvPr/>
        </p:nvSpPr>
        <p:spPr>
          <a:xfrm>
            <a:off x="1028700" y="3621931"/>
            <a:ext cx="32658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Audit log</a:t>
            </a:r>
            <a:endParaRPr lang="en-US" sz="1600" dirty="0"/>
          </a:p>
        </p:txBody>
      </p:sp>
      <p:sp>
        <p:nvSpPr>
          <p:cNvPr id="25" name="Text 19"/>
          <p:cNvSpPr/>
          <p:nvPr/>
        </p:nvSpPr>
        <p:spPr>
          <a:xfrm>
            <a:off x="1028700" y="3916561"/>
            <a:ext cx="32658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Every step, hash-chained with SHA-256</a:t>
            </a:r>
            <a:endParaRPr lang="en-US" sz="1400" dirty="0"/>
          </a:p>
        </p:txBody>
      </p:sp>
      <p:sp>
        <p:nvSpPr>
          <p:cNvPr id="26" name="Shape 20"/>
          <p:cNvSpPr/>
          <p:nvPr/>
        </p:nvSpPr>
        <p:spPr>
          <a:xfrm>
            <a:off x="4421684" y="3571131"/>
            <a:ext cx="0" cy="894011"/>
          </a:xfrm>
          <a:prstGeom prst="line">
            <a:avLst/>
          </a:prstGeom>
          <a:noFill/>
          <a:ln w="38100">
            <a:solidFill>
              <a:srgbClr val="0E6B55"/>
            </a:solidFill>
            <a:prstDash val="solid"/>
          </a:ln>
        </p:spPr>
      </p:sp>
      <p:sp>
        <p:nvSpPr>
          <p:cNvPr id="27" name="Text 21"/>
          <p:cNvSpPr/>
          <p:nvPr/>
        </p:nvSpPr>
        <p:spPr>
          <a:xfrm>
            <a:off x="4618534" y="3621931"/>
            <a:ext cx="326590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Owner device</a:t>
            </a:r>
            <a:endParaRPr lang="en-US" sz="1600" dirty="0"/>
          </a:p>
        </p:txBody>
      </p:sp>
      <p:sp>
        <p:nvSpPr>
          <p:cNvPr id="28" name="Text 22"/>
          <p:cNvSpPr/>
          <p:nvPr/>
        </p:nvSpPr>
        <p:spPr>
          <a:xfrm>
            <a:off x="4618534" y="3916561"/>
            <a:ext cx="326590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Gets approval codes, never the chat</a:t>
            </a:r>
            <a:endParaRPr lang="en-US" sz="1400" dirty="0"/>
          </a:p>
        </p:txBody>
      </p:sp>
      <p:sp>
        <p:nvSpPr>
          <p:cNvPr id="29" name="Shape 23"/>
          <p:cNvSpPr/>
          <p:nvPr/>
        </p:nvSpPr>
        <p:spPr>
          <a:xfrm>
            <a:off x="8011567" y="3571131"/>
            <a:ext cx="0" cy="894011"/>
          </a:xfrm>
          <a:prstGeom prst="line">
            <a:avLst/>
          </a:prstGeom>
          <a:noFill/>
          <a:ln w="38100">
            <a:solidFill>
              <a:srgbClr val="0E6B55"/>
            </a:solidFill>
            <a:prstDash val="solid"/>
          </a:ln>
        </p:spPr>
      </p:sp>
      <p:sp>
        <p:nvSpPr>
          <p:cNvPr id="30" name="Text 24"/>
          <p:cNvSpPr/>
          <p:nvPr/>
        </p:nvSpPr>
        <p:spPr>
          <a:xfrm>
            <a:off x="8208417" y="3621931"/>
            <a:ext cx="326590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1D"/>
                </a:solidFill>
                <a:latin typeface="Space Grotesk" pitchFamily="34" charset="0"/>
                <a:ea typeface="Space Grotesk" pitchFamily="34" charset="-122"/>
                <a:cs typeface="Space Grotesk" pitchFamily="34" charset="-120"/>
              </a:rPr>
              <a:t>Runs anywhere</a:t>
            </a:r>
            <a:endParaRPr lang="en-US" sz="1600" dirty="0"/>
          </a:p>
        </p:txBody>
      </p:sp>
      <p:sp>
        <p:nvSpPr>
          <p:cNvPr id="31" name="Text 25"/>
          <p:cNvSpPr/>
          <p:nvPr/>
        </p:nvSpPr>
        <p:spPr>
          <a:xfrm>
            <a:off x="8208417" y="3916561"/>
            <a:ext cx="326590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Python standard library only, offline in a browser via Pyodide</a:t>
            </a:r>
            <a:endParaRPr lang="en-US" sz="1400" dirty="0"/>
          </a:p>
        </p:txBody>
      </p:sp>
      <p:sp>
        <p:nvSpPr>
          <p:cNvPr id="32"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Full detail in Triody_AI_Technical_Documentation.pdf, section 2.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CORE ALGORITHM</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The forecast gives a range, and sets its own width</a:t>
            </a:r>
            <a:endParaRPr lang="en-US" sz="3600" dirty="0"/>
          </a:p>
        </p:txBody>
      </p:sp>
      <p:sp>
        <p:nvSpPr>
          <p:cNvPr id="4" name="Shape 2"/>
          <p:cNvSpPr/>
          <p:nvPr/>
        </p:nvSpPr>
        <p:spPr>
          <a:xfrm>
            <a:off x="812800" y="2501801"/>
            <a:ext cx="3352800" cy="0"/>
          </a:xfrm>
          <a:prstGeom prst="line">
            <a:avLst/>
          </a:prstGeom>
          <a:noFill/>
          <a:ln w="25400">
            <a:solidFill>
              <a:srgbClr val="0E6B55"/>
            </a:solidFill>
            <a:prstDash val="solid"/>
          </a:ln>
        </p:spPr>
      </p:sp>
      <p:sp>
        <p:nvSpPr>
          <p:cNvPr id="5" name="Text 3"/>
          <p:cNvSpPr/>
          <p:nvPr/>
        </p:nvSpPr>
        <p:spPr>
          <a:xfrm>
            <a:off x="812800" y="2692301"/>
            <a:ext cx="34533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6B55"/>
                </a:solidFill>
                <a:latin typeface="Space Grotesk" pitchFamily="34" charset="0"/>
                <a:ea typeface="Space Grotesk" pitchFamily="34" charset="-122"/>
                <a:cs typeface="Space Grotesk" pitchFamily="34" charset="-120"/>
              </a:rPr>
              <a:t>1. Sales</a:t>
            </a:r>
            <a:endParaRPr lang="en-US" sz="2200" dirty="0"/>
          </a:p>
        </p:txBody>
      </p:sp>
      <p:sp>
        <p:nvSpPr>
          <p:cNvPr id="6" name="Text 4"/>
          <p:cNvSpPr/>
          <p:nvPr/>
        </p:nvSpPr>
        <p:spPr>
          <a:xfrm>
            <a:off x="812800" y="3159621"/>
            <a:ext cx="345338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752"/>
                </a:solidFill>
                <a:latin typeface="IBM Plex Sans" pitchFamily="34" charset="0"/>
                <a:ea typeface="IBM Plex Sans" pitchFamily="34" charset="-122"/>
                <a:cs typeface="IBM Plex Sans" pitchFamily="34" charset="-120"/>
              </a:rPr>
              <a:t>Weekday pattern from the last 28 days. A damped trend. Big one-off orders capped at 1.5× the median, so one wedding order does not lift the forecast.</a:t>
            </a:r>
            <a:endParaRPr lang="en-US" sz="1400" dirty="0"/>
          </a:p>
        </p:txBody>
      </p:sp>
      <p:sp>
        <p:nvSpPr>
          <p:cNvPr id="7" name="Shape 5"/>
          <p:cNvSpPr/>
          <p:nvPr/>
        </p:nvSpPr>
        <p:spPr>
          <a:xfrm>
            <a:off x="4419600" y="2501801"/>
            <a:ext cx="3352800" cy="0"/>
          </a:xfrm>
          <a:prstGeom prst="line">
            <a:avLst/>
          </a:prstGeom>
          <a:noFill/>
          <a:ln w="25400">
            <a:solidFill>
              <a:srgbClr val="0E6B55"/>
            </a:solidFill>
            <a:prstDash val="solid"/>
          </a:ln>
        </p:spPr>
      </p:sp>
      <p:sp>
        <p:nvSpPr>
          <p:cNvPr id="8" name="Text 6"/>
          <p:cNvSpPr/>
          <p:nvPr/>
        </p:nvSpPr>
        <p:spPr>
          <a:xfrm>
            <a:off x="4419600" y="2692301"/>
            <a:ext cx="34533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6B55"/>
                </a:solidFill>
                <a:latin typeface="Space Grotesk" pitchFamily="34" charset="0"/>
                <a:ea typeface="Space Grotesk" pitchFamily="34" charset="-122"/>
                <a:cs typeface="Space Grotesk" pitchFamily="34" charset="-120"/>
              </a:rPr>
              <a:t>2. Bills</a:t>
            </a:r>
            <a:endParaRPr lang="en-US" sz="2200" dirty="0"/>
          </a:p>
        </p:txBody>
      </p:sp>
      <p:sp>
        <p:nvSpPr>
          <p:cNvPr id="9" name="Text 7"/>
          <p:cNvSpPr/>
          <p:nvPr/>
        </p:nvSpPr>
        <p:spPr>
          <a:xfrm>
            <a:off x="4419600" y="3159621"/>
            <a:ext cx="345338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752"/>
                </a:solidFill>
                <a:latin typeface="IBM Plex Sans" pitchFamily="34" charset="0"/>
                <a:ea typeface="IBM Plex Sans" pitchFamily="34" charset="-122"/>
                <a:cs typeface="IBM Plex Sans" pitchFamily="34" charset="-120"/>
              </a:rPr>
              <a:t>Finds weekly, two-weekly and monthly payments in the ledger. Supplier bills follow last week’s sales. Adds bills the owner lists, such as VAT.</a:t>
            </a:r>
            <a:endParaRPr lang="en-US" sz="1400" dirty="0"/>
          </a:p>
        </p:txBody>
      </p:sp>
      <p:sp>
        <p:nvSpPr>
          <p:cNvPr id="10" name="Shape 8"/>
          <p:cNvSpPr/>
          <p:nvPr/>
        </p:nvSpPr>
        <p:spPr>
          <a:xfrm>
            <a:off x="8026400" y="2501801"/>
            <a:ext cx="3352800" cy="0"/>
          </a:xfrm>
          <a:prstGeom prst="line">
            <a:avLst/>
          </a:prstGeom>
          <a:noFill/>
          <a:ln w="25400">
            <a:solidFill>
              <a:srgbClr val="0E6B55"/>
            </a:solidFill>
            <a:prstDash val="solid"/>
          </a:ln>
        </p:spPr>
      </p:sp>
      <p:sp>
        <p:nvSpPr>
          <p:cNvPr id="11" name="Text 9"/>
          <p:cNvSpPr/>
          <p:nvPr/>
        </p:nvSpPr>
        <p:spPr>
          <a:xfrm>
            <a:off x="8026400" y="2692301"/>
            <a:ext cx="34533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6B55"/>
                </a:solidFill>
                <a:latin typeface="Space Grotesk" pitchFamily="34" charset="0"/>
                <a:ea typeface="Space Grotesk" pitchFamily="34" charset="-122"/>
                <a:cs typeface="Space Grotesk" pitchFamily="34" charset="-120"/>
              </a:rPr>
              <a:t>3. 2,000 futures</a:t>
            </a:r>
            <a:endParaRPr lang="en-US" sz="2200" dirty="0"/>
          </a:p>
        </p:txBody>
      </p:sp>
      <p:sp>
        <p:nvSpPr>
          <p:cNvPr id="12" name="Text 10"/>
          <p:cNvSpPr/>
          <p:nvPr/>
        </p:nvSpPr>
        <p:spPr>
          <a:xfrm>
            <a:off x="8026400" y="3159621"/>
            <a:ext cx="345338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752"/>
                </a:solidFill>
                <a:latin typeface="IBM Plex Sans" pitchFamily="34" charset="0"/>
                <a:ea typeface="IBM Plex Sans" pitchFamily="34" charset="-122"/>
                <a:cs typeface="IBM Plex Sans" pitchFamily="34" charset="-120"/>
              </a:rPr>
              <a:t>Monte Carlo over 60 days gives p10, p50, p90 for every day. Range width comes from the shop’s own past 14-day errors.</a:t>
            </a:r>
            <a:endParaRPr lang="en-US" sz="1400" dirty="0"/>
          </a:p>
        </p:txBody>
      </p:sp>
      <p:sp>
        <p:nvSpPr>
          <p:cNvPr id="13" name="Text 11"/>
          <p:cNvSpPr/>
          <p:nvPr/>
        </p:nvSpPr>
        <p:spPr>
          <a:xfrm>
            <a:off x="812800" y="4546302"/>
            <a:ext cx="104648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1D"/>
                </a:solidFill>
                <a:latin typeface="IBM Plex Sans" pitchFamily="34" charset="0"/>
                <a:ea typeface="IBM Plex Sans" pitchFamily="34" charset="-122"/>
                <a:cs typeface="IBM Plex Sans" pitchFamily="34" charset="-120"/>
              </a:rPr>
              <a:t>Alert rule:</a:t>
            </a:r>
            <a:r>
              <a:rPr lang="en-US" sz="1600" dirty="0">
                <a:solidFill>
                  <a:srgbClr val="14211D"/>
                </a:solidFill>
                <a:latin typeface="IBM Plex Sans" pitchFamily="34" charset="0"/>
                <a:ea typeface="IBM Plex Sans" pitchFamily="34" charset="-122"/>
                <a:cs typeface="IBM Plex Sans" pitchFamily="34" charset="-120"/>
              </a:rPr>
              <a:t> warning when the chance of breaking the buffer reaches 25%. Critical when the expected path goes below zero, or half the futures do.</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triody/forecast.py. Every random draw is seeded, so results repeat exactly.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SECURITY: PERMISSION TIERS</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Code decides what the agent does, not the model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51001"/>
          <a:ext cx="10553700" cy="1930053"/>
        </p:xfrm>
        <a:graphic>
          <a:graphicData uri="http://schemas.openxmlformats.org/drawingml/2006/table">
            <a:tbl>
              <a:tblPr/>
              <a:tblGrid>
                <a:gridCol w="2110740"/>
                <a:gridCol w="3799332"/>
                <a:gridCol w="4643628"/>
              </a:tblGrid>
              <a:tr h="386011">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Tier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Tools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4211D"/>
                          </a:solidFill>
                          <a:latin typeface="IBM Plex Sans" pitchFamily="34" charset="0"/>
                          <a:ea typeface="IBM Plex Sans" pitchFamily="34" charset="-122"/>
                          <a:cs typeface="IBM Plex Sans" pitchFamily="34" charset="-120"/>
                        </a:rPr>
                        <a:t>Rule enforced in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8601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READ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17: forecast, reports, matching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Always allowed, arguments checked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PROPOSE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2: draft application or request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Allowed, nothing leaves the sandbox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EXECUTE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2: submit or send a draft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Owner only, with a one-time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PROHIBITED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5B5AB"/>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5B5AB"/>
                      </a:solidFill>
                      <a:prstDash val="solid"/>
                      <a:round/>
                      <a:headEnd type="none" w="med" len="med"/>
                      <a:tailEnd type="none" w="med" len="med"/>
                    </a:lnB>
                    <a:solidFill>
                      <a:srgbClr val="F7E3D6"/>
                    </a:solidFill>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1: transfer_funds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B5AB"/>
                      </a:solidFill>
                      <a:prstDash val="solid"/>
                      <a:round/>
                      <a:headEnd type="none" w="med" len="med"/>
                      <a:tailEnd type="none" w="med" len="med"/>
                    </a:lnL>
                    <a:lnR w="12700" cap="flat" cmpd="sng" algn="ctr">
                      <a:solidFill>
                        <a:srgbClr val="C5B5AB"/>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5B5AB"/>
                      </a:solidFill>
                      <a:prstDash val="solid"/>
                      <a:round/>
                      <a:headEnd type="none" w="med" len="med"/>
                      <a:tailEnd type="none" w="med" len="med"/>
                    </a:lnB>
                    <a:solidFill>
                      <a:srgbClr val="F7E3D6"/>
                    </a:solidFill>
                  </a:tcPr>
                </a:tc>
                <a:tc>
                  <a:txBody>
                    <a:bodyPr/>
                    <a:lstStyle/>
                    <a:p>
                      <a:pPr indent="0" marL="0">
                        <a:lnSpc>
                          <a:spcPts val="1960"/>
                        </a:lnSpc>
                        <a:buNone/>
                      </a:pPr>
                      <a:r>
                        <a:rPr lang="en-US" sz="1400" dirty="0">
                          <a:solidFill>
                            <a:srgbClr val="14211D"/>
                          </a:solidFill>
                          <a:latin typeface="IBM Plex Sans" pitchFamily="34" charset="0"/>
                          <a:ea typeface="IBM Plex Sans" pitchFamily="34" charset="-122"/>
                          <a:cs typeface="IBM Plex Sans" pitchFamily="34" charset="-120"/>
                        </a:rPr>
                        <a:t>Refused for everyone, even with a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B5AB"/>
                      </a:solidFill>
                      <a:prstDash val="solid"/>
                      <a:round/>
                      <a:headEnd type="none" w="med" len="med"/>
                      <a:tailEnd type="none" w="med" len="med"/>
                    </a:lnL>
                    <a:lnR w="12700" cap="flat" cmpd="sng" algn="ctr">
                      <a:solidFill>
                        <a:srgbClr val="C5B5AB"/>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5B5AB"/>
                      </a:solidFill>
                      <a:prstDash val="solid"/>
                      <a:round/>
                      <a:headEnd type="none" w="med" len="med"/>
                      <a:tailEnd type="none" w="med" len="med"/>
                    </a:lnB>
                    <a:solidFill>
                      <a:srgbClr val="F7E3D6"/>
                    </a:solidFill>
                  </a:tcPr>
                </a:tc>
              </a:tr>
            </a:tbl>
          </a:graphicData>
        </a:graphic>
      </p:graphicFrame>
      <p:sp>
        <p:nvSpPr>
          <p:cNvPr id="5" name="Shape 2"/>
          <p:cNvSpPr/>
          <p:nvPr/>
        </p:nvSpPr>
        <p:spPr>
          <a:xfrm>
            <a:off x="831850" y="4685854"/>
            <a:ext cx="0" cy="599380"/>
          </a:xfrm>
          <a:prstGeom prst="line">
            <a:avLst/>
          </a:prstGeom>
          <a:noFill/>
          <a:ln w="38100">
            <a:solidFill>
              <a:srgbClr val="0E6B55"/>
            </a:solidFill>
            <a:prstDash val="solid"/>
          </a:ln>
        </p:spPr>
      </p:sp>
      <p:sp>
        <p:nvSpPr>
          <p:cNvPr id="6" name="Text 3"/>
          <p:cNvSpPr/>
          <p:nvPr/>
        </p:nvSpPr>
        <p:spPr>
          <a:xfrm>
            <a:off x="1028700" y="4736654"/>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A language model sees only READ and PROPOSE tools. Two tests check the payload sent to it.</a:t>
            </a:r>
            <a:endParaRPr lang="en-US" sz="1400" dirty="0"/>
          </a:p>
        </p:txBody>
      </p:sp>
      <p:sp>
        <p:nvSpPr>
          <p:cNvPr id="7" name="Shape 4"/>
          <p:cNvSpPr/>
          <p:nvPr/>
        </p:nvSpPr>
        <p:spPr>
          <a:xfrm>
            <a:off x="6216650" y="4685854"/>
            <a:ext cx="0" cy="599380"/>
          </a:xfrm>
          <a:prstGeom prst="line">
            <a:avLst/>
          </a:prstGeom>
          <a:noFill/>
          <a:ln w="38100">
            <a:solidFill>
              <a:srgbClr val="0E6B55"/>
            </a:solidFill>
            <a:prstDash val="solid"/>
          </a:ln>
        </p:spPr>
      </p:sp>
      <p:sp>
        <p:nvSpPr>
          <p:cNvPr id="8" name="Text 5"/>
          <p:cNvSpPr/>
          <p:nvPr/>
        </p:nvSpPr>
        <p:spPr>
          <a:xfrm>
            <a:off x="6413500" y="4736654"/>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Memo text stays hidden from the model, which blocks prompt injection through a supplier memo.</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triody/policy.py and triody/tools.py. Full table in docs/SECURITY_ASSESSMENT.md.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B0"/>
                </a:solidFill>
                <a:latin typeface="IBM Plex Sans" pitchFamily="34" charset="0"/>
                <a:ea typeface="IBM Plex Sans" pitchFamily="34" charset="-122"/>
                <a:cs typeface="IBM Plex Sans" pitchFamily="34" charset="-120"/>
              </a:rPr>
              <a:t>SECURITY: OWNER APPROVAL</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Space Grotesk" pitchFamily="34" charset="0"/>
                <a:ea typeface="Space Grotesk" pitchFamily="34" charset="-122"/>
                <a:cs typeface="Space Grotesk" pitchFamily="34" charset="-120"/>
              </a:rPr>
              <a:t>Nothing gets sent until the owner types the code</a:t>
            </a:r>
            <a:endParaRPr lang="en-US" sz="3600" dirty="0"/>
          </a:p>
        </p:txBody>
      </p:sp>
      <p:sp>
        <p:nvSpPr>
          <p:cNvPr id="4" name="Shape 2"/>
          <p:cNvSpPr/>
          <p:nvPr/>
        </p:nvSpPr>
        <p:spPr>
          <a:xfrm>
            <a:off x="812800" y="2489101"/>
            <a:ext cx="2527300" cy="1869281"/>
          </a:xfrm>
          <a:prstGeom prst="roundRect">
            <a:avLst>
              <a:gd name="adj" fmla="val 5435"/>
            </a:avLst>
          </a:prstGeom>
          <a:solidFill>
            <a:srgbClr val="1C2F29"/>
          </a:solidFill>
          <a:ln/>
        </p:spPr>
      </p:sp>
      <p:sp>
        <p:nvSpPr>
          <p:cNvPr id="5" name="Text 3"/>
          <p:cNvSpPr/>
          <p:nvPr/>
        </p:nvSpPr>
        <p:spPr>
          <a:xfrm>
            <a:off x="1016000" y="2692301"/>
            <a:ext cx="218452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D3B0"/>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16000" y="3159621"/>
            <a:ext cx="2184527"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ED9"/>
                </a:solidFill>
                <a:latin typeface="IBM Plex Sans" pitchFamily="34" charset="0"/>
                <a:ea typeface="IBM Plex Sans" pitchFamily="34" charset="-122"/>
                <a:cs typeface="IBM Plex Sans" pitchFamily="34" charset="-120"/>
              </a:rPr>
              <a:t>Triody drafts the application. A random 48-bit code gets bound to the exact action.</a:t>
            </a:r>
            <a:endParaRPr lang="en-US" sz="1400" dirty="0"/>
          </a:p>
        </p:txBody>
      </p:sp>
      <p:sp>
        <p:nvSpPr>
          <p:cNvPr id="7" name="Shape 5"/>
          <p:cNvSpPr/>
          <p:nvPr/>
        </p:nvSpPr>
        <p:spPr>
          <a:xfrm>
            <a:off x="3492500" y="2489101"/>
            <a:ext cx="2527300" cy="1869281"/>
          </a:xfrm>
          <a:prstGeom prst="roundRect">
            <a:avLst>
              <a:gd name="adj" fmla="val 5435"/>
            </a:avLst>
          </a:prstGeom>
          <a:solidFill>
            <a:srgbClr val="1C2F29"/>
          </a:solidFill>
          <a:ln/>
        </p:spPr>
      </p:sp>
      <p:sp>
        <p:nvSpPr>
          <p:cNvPr id="8" name="Text 6"/>
          <p:cNvSpPr/>
          <p:nvPr/>
        </p:nvSpPr>
        <p:spPr>
          <a:xfrm>
            <a:off x="3695700" y="2692301"/>
            <a:ext cx="218452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D3B0"/>
                </a:solidFill>
                <a:latin typeface="Space Grotesk" pitchFamily="34" charset="0"/>
                <a:ea typeface="Space Grotesk" pitchFamily="34" charset="-122"/>
                <a:cs typeface="Space Grotesk" pitchFamily="34" charset="-120"/>
              </a:rPr>
              <a:t>2</a:t>
            </a:r>
            <a:endParaRPr lang="en-US" sz="2200" dirty="0"/>
          </a:p>
        </p:txBody>
      </p:sp>
      <p:sp>
        <p:nvSpPr>
          <p:cNvPr id="9" name="Text 7"/>
          <p:cNvSpPr/>
          <p:nvPr/>
        </p:nvSpPr>
        <p:spPr>
          <a:xfrm>
            <a:off x="3695700" y="3159621"/>
            <a:ext cx="2184527"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ED9"/>
                </a:solidFill>
                <a:latin typeface="IBM Plex Sans" pitchFamily="34" charset="0"/>
                <a:ea typeface="IBM Plex Sans" pitchFamily="34" charset="-122"/>
                <a:cs typeface="IBM Plex Sans" pitchFamily="34" charset="-120"/>
              </a:rPr>
              <a:t>The code goes to the owner device only. Never the chat, the model or the log.</a:t>
            </a:r>
            <a:endParaRPr lang="en-US" sz="1400" dirty="0"/>
          </a:p>
        </p:txBody>
      </p:sp>
      <p:sp>
        <p:nvSpPr>
          <p:cNvPr id="10" name="Shape 8"/>
          <p:cNvSpPr/>
          <p:nvPr/>
        </p:nvSpPr>
        <p:spPr>
          <a:xfrm>
            <a:off x="6172200" y="2489101"/>
            <a:ext cx="2527300" cy="1869281"/>
          </a:xfrm>
          <a:prstGeom prst="roundRect">
            <a:avLst>
              <a:gd name="adj" fmla="val 5435"/>
            </a:avLst>
          </a:prstGeom>
          <a:solidFill>
            <a:srgbClr val="1C2F29"/>
          </a:solidFill>
          <a:ln/>
        </p:spPr>
      </p:sp>
      <p:sp>
        <p:nvSpPr>
          <p:cNvPr id="11" name="Text 9"/>
          <p:cNvSpPr/>
          <p:nvPr/>
        </p:nvSpPr>
        <p:spPr>
          <a:xfrm>
            <a:off x="6375400" y="2692301"/>
            <a:ext cx="218452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D3B0"/>
                </a:solidFill>
                <a:latin typeface="Space Grotesk" pitchFamily="34" charset="0"/>
                <a:ea typeface="Space Grotesk" pitchFamily="34" charset="-122"/>
                <a:cs typeface="Space Grotesk" pitchFamily="34" charset="-120"/>
              </a:rPr>
              <a:t>3</a:t>
            </a:r>
            <a:endParaRPr lang="en-US" sz="2200" dirty="0"/>
          </a:p>
        </p:txBody>
      </p:sp>
      <p:sp>
        <p:nvSpPr>
          <p:cNvPr id="12" name="Text 10"/>
          <p:cNvSpPr/>
          <p:nvPr/>
        </p:nvSpPr>
        <p:spPr>
          <a:xfrm>
            <a:off x="6375400" y="3159621"/>
            <a:ext cx="218452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ED9"/>
                </a:solidFill>
                <a:latin typeface="IBM Plex Sans" pitchFamily="34" charset="0"/>
                <a:ea typeface="IBM Plex Sans" pitchFamily="34" charset="-122"/>
                <a:cs typeface="IBM Plex Sans" pitchFamily="34" charset="-120"/>
              </a:rPr>
              <a:t>The owner types it. Limits checked: £50,000 per action, 3 actions a day.</a:t>
            </a:r>
            <a:endParaRPr lang="en-US" sz="1400" dirty="0"/>
          </a:p>
        </p:txBody>
      </p:sp>
      <p:sp>
        <p:nvSpPr>
          <p:cNvPr id="13" name="Shape 11"/>
          <p:cNvSpPr/>
          <p:nvPr/>
        </p:nvSpPr>
        <p:spPr>
          <a:xfrm>
            <a:off x="8851900" y="2489101"/>
            <a:ext cx="2527300" cy="1869281"/>
          </a:xfrm>
          <a:prstGeom prst="roundRect">
            <a:avLst>
              <a:gd name="adj" fmla="val 5435"/>
            </a:avLst>
          </a:prstGeom>
          <a:solidFill>
            <a:srgbClr val="1C2F29"/>
          </a:solidFill>
          <a:ln/>
        </p:spPr>
      </p:sp>
      <p:sp>
        <p:nvSpPr>
          <p:cNvPr id="14" name="Text 12"/>
          <p:cNvSpPr/>
          <p:nvPr/>
        </p:nvSpPr>
        <p:spPr>
          <a:xfrm>
            <a:off x="9055100" y="2692301"/>
            <a:ext cx="218452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FD3B0"/>
                </a:solidFill>
                <a:latin typeface="Space Grotesk" pitchFamily="34" charset="0"/>
                <a:ea typeface="Space Grotesk" pitchFamily="34" charset="-122"/>
                <a:cs typeface="Space Grotesk" pitchFamily="34" charset="-120"/>
              </a:rPr>
              <a:t>4</a:t>
            </a:r>
            <a:endParaRPr lang="en-US" sz="2200" dirty="0"/>
          </a:p>
        </p:txBody>
      </p:sp>
      <p:sp>
        <p:nvSpPr>
          <p:cNvPr id="15" name="Text 13"/>
          <p:cNvSpPr/>
          <p:nvPr/>
        </p:nvSpPr>
        <p:spPr>
          <a:xfrm>
            <a:off x="9055100" y="3159621"/>
            <a:ext cx="218452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ED9"/>
                </a:solidFill>
                <a:latin typeface="IBM Plex Sans" pitchFamily="34" charset="0"/>
                <a:ea typeface="IBM Plex Sans" pitchFamily="34" charset="-122"/>
                <a:cs typeface="IBM Plex Sans" pitchFamily="34" charset="-120"/>
              </a:rPr>
              <a:t>The action runs once. The code expires after 10 minutes either way.</a:t>
            </a:r>
            <a:endParaRPr lang="en-US" sz="1400" dirty="0"/>
          </a:p>
        </p:txBody>
      </p:sp>
      <p:sp>
        <p:nvSpPr>
          <p:cNvPr id="16" name="Text 14"/>
          <p:cNvSpPr/>
          <p:nvPr/>
        </p:nvSpPr>
        <p:spPr>
          <a:xfrm>
            <a:off x="812800" y="4713982"/>
            <a:ext cx="104648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A65A"/>
                </a:solidFill>
                <a:latin typeface="IBM Plex Sans" pitchFamily="34" charset="0"/>
                <a:ea typeface="IBM Plex Sans" pitchFamily="34" charset="-122"/>
                <a:cs typeface="IBM Plex Sans" pitchFamily="34" charset="-120"/>
              </a:rPr>
              <a:t>Five wrong codes lock every waiting draft. Every step lands in a SHA-256 hash-chained audit log, and the demo log verifies on all 41 entries.</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9A"/>
                </a:solidFill>
                <a:latin typeface="IBM Plex Sans" pitchFamily="34" charset="0"/>
                <a:ea typeface="IBM Plex Sans" pitchFamily="34" charset="-122"/>
                <a:cs typeface="IBM Plex Sans" pitchFamily="34" charset="-120"/>
              </a:rPr>
              <a:t>Tested in OwnerChannelTests, PermissionTests and AuditTests.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21704"/>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0E6B55"/>
                </a:solidFill>
                <a:latin typeface="IBM Plex Sans" pitchFamily="34" charset="0"/>
                <a:ea typeface="IBM Plex Sans" pitchFamily="34" charset="-122"/>
                <a:cs typeface="IBM Plex Sans" pitchFamily="34" charset="-120"/>
              </a:rPr>
              <a:t>EVIDENCE</a:t>
            </a:r>
            <a:endParaRPr lang="en-US" sz="1121" dirty="0"/>
          </a:p>
        </p:txBody>
      </p:sp>
      <p:sp>
        <p:nvSpPr>
          <p:cNvPr id="3" name="Text 1"/>
          <p:cNvSpPr/>
          <p:nvPr>
            <p:ph type="title"/>
          </p:nvPr>
        </p:nvSpPr>
        <p:spPr>
          <a:xfrm>
            <a:off x="812800" y="1110704"/>
            <a:ext cx="11379200" cy="951061"/>
          </a:xfrm>
          <a:prstGeom prst="rect">
            <a:avLst/>
          </a:prstGeom>
          <a:noFill/>
          <a:ln/>
        </p:spPr>
        <p:txBody>
          <a:bodyPr wrap="square" lIns="0" tIns="0" rIns="0" bIns="0" rtlCol="0" anchor="t">
            <a:normAutofit/>
          </a:bodyPr>
          <a:lstStyle/>
          <a:p>
            <a:pPr algn="l" indent="0" marL="0">
              <a:lnSpc>
                <a:spcPts val="3750"/>
              </a:lnSpc>
              <a:buNone/>
            </a:pPr>
            <a:r>
              <a:rPr lang="en-US" sz="3409" b="1" i="0" dirty="0">
                <a:solidFill>
                  <a:srgbClr val="14211D"/>
                </a:solidFill>
                <a:latin typeface="Space Grotesk" pitchFamily="34" charset="0"/>
                <a:ea typeface="Space Grotesk" pitchFamily="34" charset="-122"/>
                <a:cs typeface="Space Grotesk" pitchFamily="34" charset="-120"/>
              </a:rPr>
              <a:t>Tested against simple baselines, labels frozen first</a:t>
            </a:r>
            <a:endParaRPr lang="en-US" sz="3409"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53866"/>
          <a:ext cx="10553700" cy="1999952"/>
        </p:xfrm>
        <a:graphic>
          <a:graphicData uri="http://schemas.openxmlformats.org/drawingml/2006/table">
            <a:tbl>
              <a:tblPr/>
              <a:tblGrid>
                <a:gridCol w="4221480"/>
                <a:gridCol w="3166110"/>
                <a:gridCol w="3166110"/>
              </a:tblGrid>
              <a:tr h="333325">
                <a:tc>
                  <a:txBody>
                    <a:bodyPr/>
                    <a:lstStyle/>
                    <a:p>
                      <a:pPr indent="0" marL="0">
                        <a:lnSpc>
                          <a:spcPts val="1684"/>
                        </a:lnSpc>
                        <a:buNone/>
                      </a:pPr>
                      <a:r>
                        <a:rPr lang="en-US" sz="1203" b="1" dirty="0">
                          <a:solidFill>
                            <a:srgbClr val="14211D"/>
                          </a:solidFill>
                          <a:latin typeface="IBM Plex Sans" pitchFamily="34" charset="0"/>
                          <a:ea typeface="IBM Plex Sans" pitchFamily="34" charset="-122"/>
                          <a:cs typeface="IBM Plex Sans" pitchFamily="34" charset="-120"/>
                        </a:rPr>
                        <a:t>Test</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4"/>
                        </a:lnSpc>
                        <a:buNone/>
                      </a:pPr>
                      <a:r>
                        <a:rPr lang="en-US" sz="1203" b="1" dirty="0">
                          <a:solidFill>
                            <a:srgbClr val="14211D"/>
                          </a:solidFill>
                          <a:latin typeface="IBM Plex Sans" pitchFamily="34" charset="0"/>
                          <a:ea typeface="IBM Plex Sans" pitchFamily="34" charset="-122"/>
                          <a:cs typeface="IBM Plex Sans" pitchFamily="34" charset="-120"/>
                        </a:rPr>
                        <a:t>Triody</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4"/>
                        </a:lnSpc>
                        <a:buNone/>
                      </a:pPr>
                      <a:r>
                        <a:rPr lang="en-US" sz="1203" b="1" dirty="0">
                          <a:solidFill>
                            <a:srgbClr val="14211D"/>
                          </a:solidFill>
                          <a:latin typeface="IBM Plex Sans" pitchFamily="34" charset="0"/>
                          <a:ea typeface="IBM Plex Sans" pitchFamily="34" charset="-122"/>
                          <a:cs typeface="IBM Plex Sans" pitchFamily="34" charset="-120"/>
                        </a:rPr>
                        <a:t>Baseline</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3325">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Financing match, 30 labelled cases</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86.7%, 6/6 refusals right</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76.7%, 4/6</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3325">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Financing match, 14 held-out cases</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85.7%, 3/3 refusals right</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71.4%, 1/3</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3325">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Financing match, 15 new held-out cases</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93.3%, 2/2 refusals right</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86.7%, 1/2</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3325">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Day-14 balance error, café / bike shop</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£672 / £1,434</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£1,441 / £2,721</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3325">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Day-14 balance error, florist / tea shop</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£524 / ¥8,060</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4"/>
                        </a:lnSpc>
                        <a:buNone/>
                      </a:pPr>
                      <a:r>
                        <a:rPr lang="en-US" sz="1203" dirty="0">
                          <a:solidFill>
                            <a:srgbClr val="14211D"/>
                          </a:solidFill>
                          <a:latin typeface="IBM Plex Sans" pitchFamily="34" charset="0"/>
                          <a:ea typeface="IBM Plex Sans" pitchFamily="34" charset="-122"/>
                          <a:cs typeface="IBM Plex Sans" pitchFamily="34" charset="-120"/>
                        </a:rPr>
                        <a:t>£793 / ¥25,793</a:t>
                      </a:r>
                      <a:endParaRPr lang="en-US" sz="1203" dirty="0">
                        <a:latin typeface="IBM Plex Sans" charset="0"/>
                        <a:ea typeface="IBM Plex Sans" charset="0"/>
                        <a:cs typeface="IBM Plex Sans" charset="0"/>
                      </a:endParaRPr>
                    </a:p>
                  </a:txBody>
                  <a:tcPr marL="53451" marR="53451" marT="53451" marB="5345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928989"/>
            <a:ext cx="912971"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E6B55"/>
                </a:solidFill>
                <a:latin typeface="Space Grotesk" pitchFamily="34" charset="0"/>
                <a:ea typeface="Space Grotesk" pitchFamily="34" charset="-122"/>
                <a:cs typeface="Space Grotesk" pitchFamily="34" charset="-120"/>
              </a:rPr>
              <a:t>192</a:t>
            </a:r>
            <a:endParaRPr lang="en-US" sz="3600" dirty="0"/>
          </a:p>
        </p:txBody>
      </p:sp>
      <p:sp>
        <p:nvSpPr>
          <p:cNvPr id="6" name="Text 3"/>
          <p:cNvSpPr/>
          <p:nvPr/>
        </p:nvSpPr>
        <p:spPr>
          <a:xfrm>
            <a:off x="1726009" y="5124549"/>
            <a:ext cx="420260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unit, integration and safety tests, all passing</a:t>
            </a:r>
            <a:endParaRPr lang="en-US" sz="1400" dirty="0"/>
          </a:p>
        </p:txBody>
      </p:sp>
      <p:sp>
        <p:nvSpPr>
          <p:cNvPr id="7" name="Text 4"/>
          <p:cNvSpPr/>
          <p:nvPr/>
        </p:nvSpPr>
        <p:spPr>
          <a:xfrm>
            <a:off x="6197600" y="4608959"/>
            <a:ext cx="808682" cy="130552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E6B55"/>
                </a:solidFill>
                <a:latin typeface="Space Grotesk" pitchFamily="34" charset="0"/>
                <a:ea typeface="Space Grotesk" pitchFamily="34" charset="-122"/>
                <a:cs typeface="Space Grotesk" pitchFamily="34" charset="-120"/>
              </a:rPr>
              <a:t>4/4</a:t>
            </a:r>
            <a:endParaRPr lang="en-US" sz="3600" dirty="0"/>
          </a:p>
        </p:txBody>
      </p:sp>
      <p:sp>
        <p:nvSpPr>
          <p:cNvPr id="8" name="Text 5"/>
          <p:cNvSpPr/>
          <p:nvPr/>
        </p:nvSpPr>
        <p:spPr>
          <a:xfrm>
            <a:off x="7107882" y="5000129"/>
            <a:ext cx="439945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752"/>
                </a:solidFill>
                <a:latin typeface="IBM Plex Sans" pitchFamily="34" charset="0"/>
                <a:ea typeface="IBM Plex Sans" pitchFamily="34" charset="-122"/>
                <a:cs typeface="IBM Plex Sans" pitchFamily="34" charset="-120"/>
              </a:rPr>
              <a:t>shops where the balance forecast beats the naive one</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Baseline: cheapest eligible product for financing, last 28 days carried forward for balance. docs/EVALUATION.md.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B55"/>
                </a:solidFill>
                <a:latin typeface="IBM Plex Sans" pitchFamily="34" charset="0"/>
                <a:ea typeface="IBM Plex Sans" pitchFamily="34" charset="-122"/>
                <a:cs typeface="IBM Plex Sans" pitchFamily="34" charset="-120"/>
              </a:rPr>
              <a:t>KNOWN LIMITS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1D"/>
                </a:solidFill>
                <a:latin typeface="Space Grotesk" pitchFamily="34" charset="0"/>
                <a:ea typeface="Space Grotesk" pitchFamily="34" charset="-122"/>
                <a:cs typeface="Space Grotesk" pitchFamily="34" charset="-120"/>
              </a:rPr>
              <a:t>What we have not proved yet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155924"/>
        </p:xfrm>
        <a:graphic>
          <a:graphicData uri="http://schemas.openxmlformats.org/drawingml/2006/table">
            <a:tbl>
              <a:tblPr/>
              <a:tblGrid>
                <a:gridCol w="5276850"/>
                <a:gridCol w="5276850"/>
              </a:tblGrid>
              <a:tr h="359321">
                <a:tc>
                  <a:txBody>
                    <a:bodyPr/>
                    <a:lstStyle/>
                    <a:p>
                      <a:pPr indent="0" marL="0">
                        <a:lnSpc>
                          <a:spcPts val="1820"/>
                        </a:lnSpc>
                        <a:buNone/>
                      </a:pPr>
                      <a:r>
                        <a:rPr lang="en-US" sz="1300" b="1" dirty="0">
                          <a:solidFill>
                            <a:srgbClr val="14211D"/>
                          </a:solidFill>
                          <a:latin typeface="IBM Plex Sans" pitchFamily="34" charset="0"/>
                          <a:ea typeface="IBM Plex Sans" pitchFamily="34" charset="-122"/>
                          <a:cs typeface="IBM Plex Sans" pitchFamily="34" charset="-120"/>
                        </a:rPr>
                        <a:t>Limit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4211D"/>
                          </a:solidFill>
                          <a:latin typeface="IBM Plex Sans" pitchFamily="34" charset="0"/>
                          <a:ea typeface="IBM Plex Sans" pitchFamily="34" charset="-122"/>
                          <a:cs typeface="IBM Plex Sans" pitchFamily="34" charset="-120"/>
                        </a:rPr>
                        <a:t>What a real deployment needs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59321">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Synthetic data only, four fictional shops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A pilot on real books, 12 months of history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Tea shop weekly sales: 7.12% error, baseline 6.61%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More seasonal data before trusting week-level sales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Language-model path tested with scripted models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Run llm-check with six attack prompts on a live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Owner device is a panel on the same screen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SMS or a push message in the bank’s app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Catalogue rates go out of 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1D"/>
                          </a:solidFill>
                          <a:latin typeface="IBM Plex Sans" pitchFamily="34" charset="0"/>
                          <a:ea typeface="IBM Plex Sans" pitchFamily="34" charset="-122"/>
                          <a:cs typeface="IBM Plex Sans" pitchFamily="34" charset="-120"/>
                        </a:rPr>
                        <a:t>Live quotes from providers, legal review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408835"/>
            <a:ext cx="10464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752"/>
                </a:solidFill>
                <a:latin typeface="IBM Plex Sans" pitchFamily="34" charset="0"/>
                <a:ea typeface="IBM Plex Sans" pitchFamily="34" charset="-122"/>
                <a:cs typeface="IBM Plex Sans" pitchFamily="34" charset="-120"/>
              </a:rPr>
              <a:t>All 26 known risks, each with likelihood, impact and a fix, sit in docs/SECURITY_ASSESSMENT.md.</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6F"/>
                </a:solidFill>
                <a:latin typeface="IBM Plex Sans" pitchFamily="34" charset="0"/>
                <a:ea typeface="IBM Plex Sans" pitchFamily="34" charset="-122"/>
                <a:cs typeface="IBM Plex Sans" pitchFamily="34" charset="-120"/>
              </a:rPr>
              <a:t>Triody gives information, not regulated financial advice.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6FD3B0"/>
                </a:solidFill>
                <a:latin typeface="IBM Plex Sans" pitchFamily="34" charset="0"/>
                <a:ea typeface="IBM Plex Sans" pitchFamily="34" charset="-122"/>
                <a:cs typeface="IBM Plex Sans" pitchFamily="34" charset="-120"/>
              </a:rPr>
              <a:t>TRIODY AI</a:t>
            </a:r>
            <a:endParaRPr lang="en-US" sz="1600" dirty="0"/>
          </a:p>
        </p:txBody>
      </p:sp>
      <p:sp>
        <p:nvSpPr>
          <p:cNvPr id="3" name="Text 1"/>
          <p:cNvSpPr/>
          <p:nvPr>
            <p:ph type="title"/>
          </p:nvPr>
        </p:nvSpPr>
        <p:spPr>
          <a:xfrm>
            <a:off x="812800" y="1300460"/>
            <a:ext cx="9810750" cy="19455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5F3EC"/>
                </a:solidFill>
                <a:latin typeface="Space Grotesk" pitchFamily="34" charset="0"/>
                <a:ea typeface="Space Grotesk" pitchFamily="34" charset="-122"/>
                <a:cs typeface="Space Grotesk" pitchFamily="34" charset="-120"/>
              </a:rPr>
              <a:t>Warns early. Explains why. Prepares the fix. Never moves the money.</a:t>
            </a:r>
            <a:endParaRPr lang="en-US" sz="4800" dirty="0"/>
          </a:p>
        </p:txBody>
      </p:sp>
      <p:sp>
        <p:nvSpPr>
          <p:cNvPr id="4" name="Shape 2"/>
          <p:cNvSpPr/>
          <p:nvPr/>
        </p:nvSpPr>
        <p:spPr>
          <a:xfrm>
            <a:off x="812800" y="4878189"/>
            <a:ext cx="5130800" cy="0"/>
          </a:xfrm>
          <a:prstGeom prst="line">
            <a:avLst/>
          </a:prstGeom>
          <a:noFill/>
          <a:ln w="12700">
            <a:solidFill>
              <a:srgbClr val="3C5A50"/>
            </a:solidFill>
            <a:prstDash val="solid"/>
          </a:ln>
        </p:spPr>
      </p:sp>
      <p:sp>
        <p:nvSpPr>
          <p:cNvPr id="5" name="Text 3"/>
          <p:cNvSpPr/>
          <p:nvPr/>
        </p:nvSpPr>
        <p:spPr>
          <a:xfrm>
            <a:off x="812800" y="5036939"/>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39A"/>
                </a:solidFill>
                <a:latin typeface="IBM Plex Sans" pitchFamily="34" charset="0"/>
                <a:ea typeface="IBM Plex Sans" pitchFamily="34" charset="-122"/>
                <a:cs typeface="IBM Plex Sans" pitchFamily="34" charset="-120"/>
              </a:rPr>
              <a:t>TRY IT</a:t>
            </a:r>
            <a:endParaRPr lang="en-US" sz="1200" dirty="0"/>
          </a:p>
        </p:txBody>
      </p:sp>
      <p:sp>
        <p:nvSpPr>
          <p:cNvPr id="6" name="Text 4"/>
          <p:cNvSpPr/>
          <p:nvPr/>
        </p:nvSpPr>
        <p:spPr>
          <a:xfrm>
            <a:off x="812800" y="5326459"/>
            <a:ext cx="528472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6DED9"/>
                </a:solidFill>
                <a:latin typeface="IBM Plex Sans" pitchFamily="34" charset="0"/>
                <a:ea typeface="IBM Plex Sans" pitchFamily="34" charset="-122"/>
                <a:cs typeface="IBM Plex Sans" pitchFamily="34" charset="-120"/>
              </a:rPr>
              <a:t>Python 3.11, no extra packages. Run run_mac.command or run_windows.bat, or open the browser app offline.</a:t>
            </a:r>
            <a:endParaRPr lang="en-US" sz="1400" dirty="0"/>
          </a:p>
        </p:txBody>
      </p:sp>
      <p:sp>
        <p:nvSpPr>
          <p:cNvPr id="7" name="Shape 5"/>
          <p:cNvSpPr/>
          <p:nvPr/>
        </p:nvSpPr>
        <p:spPr>
          <a:xfrm>
            <a:off x="6248400" y="4878189"/>
            <a:ext cx="5130800" cy="0"/>
          </a:xfrm>
          <a:prstGeom prst="line">
            <a:avLst/>
          </a:prstGeom>
          <a:noFill/>
          <a:ln w="12700">
            <a:solidFill>
              <a:srgbClr val="3C5A50"/>
            </a:solidFill>
            <a:prstDash val="solid"/>
          </a:ln>
        </p:spPr>
      </p:sp>
      <p:sp>
        <p:nvSpPr>
          <p:cNvPr id="8" name="Text 6"/>
          <p:cNvSpPr/>
          <p:nvPr/>
        </p:nvSpPr>
        <p:spPr>
          <a:xfrm>
            <a:off x="6248400" y="5036939"/>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39A"/>
                </a:solidFill>
                <a:latin typeface="IBM Plex Sans" pitchFamily="34" charset="0"/>
                <a:ea typeface="IBM Plex Sans" pitchFamily="34" charset="-122"/>
                <a:cs typeface="IBM Plex Sans" pitchFamily="34" charset="-120"/>
              </a:rPr>
              <a:t>TEAM</a:t>
            </a:r>
            <a:endParaRPr lang="en-US" sz="1200" dirty="0"/>
          </a:p>
        </p:txBody>
      </p:sp>
      <p:sp>
        <p:nvSpPr>
          <p:cNvPr id="9" name="Text 7"/>
          <p:cNvSpPr/>
          <p:nvPr/>
        </p:nvSpPr>
        <p:spPr>
          <a:xfrm>
            <a:off x="6248400" y="5326459"/>
            <a:ext cx="528472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6DED9"/>
                </a:solidFill>
                <a:latin typeface="IBM Plex Sans" pitchFamily="34" charset="0"/>
                <a:ea typeface="IBM Plex Sans" pitchFamily="34" charset="-122"/>
                <a:cs typeface="IBM Plex Sans" pitchFamily="34" charset="-120"/>
              </a:rPr>
              <a:t>AL SIFAT SIDDIKI (lead), Md Rezuan Islami Rokib, Atif Azeem. Edinburgh Napier University.</a:t>
            </a:r>
            <a:endParaRPr lang="en-US" sz="1400" dirty="0"/>
          </a:p>
        </p:txBody>
      </p:sp>
    </p:spTree>
  </p:cSld>
  <p:clrMapOvr>
    <a:masterClrMapping/>
  </p:clrMapOvr>
</p:sld>
</file>

<file path=ppt/theme/theme1.xml><?xml version="1.0" encoding="utf-8"?>
<a:theme xmlns:a="http://schemas.openxmlformats.org/drawingml/2006/main" name="Triody AI: SME Finance Copilot">
  <a:themeElements>
    <a:clrScheme name="Triody AI: SME Finance Copilot">
      <a:dk1>
        <a:srgbClr val="14211D"/>
      </a:dk1>
      <a:lt1>
        <a:srgbClr val="F5F3EC"/>
      </a:lt1>
      <a:dk2>
        <a:srgbClr val="4C5651"/>
      </a:dk2>
      <a:lt2>
        <a:srgbClr val="DFDED7"/>
      </a:lt2>
      <a:accent1>
        <a:srgbClr val="0E6B55"/>
      </a:accent1>
      <a:accent2>
        <a:srgbClr val="6FD3B0"/>
      </a:accent2>
      <a:accent3>
        <a:srgbClr val="B4430E"/>
      </a:accent3>
      <a:accent4>
        <a:srgbClr val="F2A65A"/>
      </a:accent4>
      <a:accent5>
        <a:srgbClr val="4B5752"/>
      </a:accent5>
      <a:accent6>
        <a:srgbClr val="D6DED9"/>
      </a:accent6>
      <a:hlink>
        <a:srgbClr val="0563C1"/>
      </a:hlink>
      <a:folHlink>
        <a:srgbClr val="954F72"/>
      </a:folHlink>
    </a:clrScheme>
    <a:fontScheme name="Triody AI: SME Finance Copilo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Triody AI: SME Finance Copilot</dc:title>
  <dc:subject/>
  <dc:creator/>
  <cp:lastModifiedBy/>
  <cp:revision>1</cp:revision>
  <dcterms:created xsi:type="dcterms:W3CDTF">2026-10-20T03:08:42Z</dcterms:created>
  <dcterms:modified xsi:type="dcterms:W3CDTF">2026-10-20T03:08:42Z</dcterms:modified>
</cp:coreProperties>
</file>